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68aec2a1683496b" /><Relationship Type="http://schemas.openxmlformats.org/officeDocument/2006/relationships/extended-properties" Target="/docProps/app.xml" Id="R4a036bd230ea40f7" /><Relationship Type="http://schemas.openxmlformats.org/officeDocument/2006/relationships/officeDocument" Target="/ppt/presentation.xml" Id="R968b735701dd468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c66d15dec574533"/>
  </p:sldMasterIdLst>
  <p:notesMasterIdLst>
    <p:notesMasterId xmlns:r="http://schemas.openxmlformats.org/officeDocument/2006/relationships" r:id="Re75b3f4ce9ee4fc4"/>
  </p:notesMasterIdLst>
  <p:sldIdLst>
    <p:sldId xmlns:r="http://schemas.openxmlformats.org/officeDocument/2006/relationships" id="256" r:id="R5c8c4a6d12dc4a82"/>
    <p:sldId xmlns:r="http://schemas.openxmlformats.org/officeDocument/2006/relationships" id="257" r:id="R448e71ec9ff944b6"/>
    <p:sldId xmlns:r="http://schemas.openxmlformats.org/officeDocument/2006/relationships" id="258" r:id="Rcc7940b5525f4cad"/>
    <p:sldId xmlns:r="http://schemas.openxmlformats.org/officeDocument/2006/relationships" id="259" r:id="R4e3b45f8d98b4018"/>
    <p:sldId xmlns:r="http://schemas.openxmlformats.org/officeDocument/2006/relationships" id="260" r:id="Rb20eb60301de41ef"/>
    <p:sldId xmlns:r="http://schemas.openxmlformats.org/officeDocument/2006/relationships" id="261" r:id="R5fa265ea6b3c4e01"/>
    <p:sldId xmlns:r="http://schemas.openxmlformats.org/officeDocument/2006/relationships" id="262" r:id="R93ee6d9e10574ddd"/>
    <p:sldId xmlns:r="http://schemas.openxmlformats.org/officeDocument/2006/relationships" id="263" r:id="R87f541e7587b49f6"/>
    <p:sldId xmlns:r="http://schemas.openxmlformats.org/officeDocument/2006/relationships" id="264" r:id="R16b28406a83d4655"/>
    <p:sldId xmlns:r="http://schemas.openxmlformats.org/officeDocument/2006/relationships" id="265" r:id="R0b48deeed1bc44b5"/>
    <p:sldId xmlns:r="http://schemas.openxmlformats.org/officeDocument/2006/relationships" id="266" r:id="R7a7b9236e828491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12be041703943e0" /><Relationship Type="http://schemas.openxmlformats.org/officeDocument/2006/relationships/slideMaster" Target="/ppt/slideMasters/slideMaster1.xml" Id="Rfc66d15dec574533" /><Relationship Type="http://schemas.openxmlformats.org/officeDocument/2006/relationships/notesMaster" Target="/ppt/notesMasters/notesMaster1.xml" Id="Re75b3f4ce9ee4fc4" /><Relationship Type="http://schemas.openxmlformats.org/officeDocument/2006/relationships/presProps" Target="/ppt/presProps.xml" Id="R86b58dc51177474d" /><Relationship Type="http://schemas.openxmlformats.org/officeDocument/2006/relationships/tableStyles" Target="/ppt/tableStyles.xml" Id="R8bc172258b1d4ce4" /><Relationship Type="http://schemas.openxmlformats.org/officeDocument/2006/relationships/slide" Target="/ppt/slides/slide1.xml" Id="R5c8c4a6d12dc4a82" /><Relationship Type="http://schemas.openxmlformats.org/officeDocument/2006/relationships/slide" Target="/ppt/slides/slide2.xml" Id="R448e71ec9ff944b6" /><Relationship Type="http://schemas.openxmlformats.org/officeDocument/2006/relationships/slide" Target="/ppt/slides/slide3.xml" Id="Rcc7940b5525f4cad" /><Relationship Type="http://schemas.openxmlformats.org/officeDocument/2006/relationships/slide" Target="/ppt/slides/slide4.xml" Id="R4e3b45f8d98b4018" /><Relationship Type="http://schemas.openxmlformats.org/officeDocument/2006/relationships/slide" Target="/ppt/slides/slide5.xml" Id="Rb20eb60301de41ef" /><Relationship Type="http://schemas.openxmlformats.org/officeDocument/2006/relationships/slide" Target="/ppt/slides/slide6.xml" Id="R5fa265ea6b3c4e01" /><Relationship Type="http://schemas.openxmlformats.org/officeDocument/2006/relationships/slide" Target="/ppt/slides/slide7.xml" Id="R93ee6d9e10574ddd" /><Relationship Type="http://schemas.openxmlformats.org/officeDocument/2006/relationships/slide" Target="/ppt/slides/slide8.xml" Id="R87f541e7587b49f6" /><Relationship Type="http://schemas.openxmlformats.org/officeDocument/2006/relationships/slide" Target="/ppt/slides/slide9.xml" Id="R16b28406a83d4655" /><Relationship Type="http://schemas.openxmlformats.org/officeDocument/2006/relationships/slide" Target="/ppt/slides/slide10.xml" Id="R0b48deeed1bc44b5" /><Relationship Type="http://schemas.openxmlformats.org/officeDocument/2006/relationships/slide" Target="/ppt/slides/slide11.xml" Id="R7a7b9236e82849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457521de61643a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c0b2e9ee7904fcb" /><Relationship Type="http://schemas.openxmlformats.org/officeDocument/2006/relationships/notesMaster" Target="/ppt/notesMasters/notesMaster1.xml" Id="Raaedbfe8f556461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15d1b2e0d164e16" /><Relationship Type="http://schemas.openxmlformats.org/officeDocument/2006/relationships/notesMaster" Target="/ppt/notesMasters/notesMaster1.xml" Id="R398424b25c9048f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ecd6be9fb444aed" /><Relationship Type="http://schemas.openxmlformats.org/officeDocument/2006/relationships/notesMaster" Target="/ppt/notesMasters/notesMaster1.xml" Id="R9edc3d3662ab43b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790cc58db074a0f" /><Relationship Type="http://schemas.openxmlformats.org/officeDocument/2006/relationships/notesMaster" Target="/ppt/notesMasters/notesMaster1.xml" Id="Ra441b7e290584ae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041b972ce214b05" /><Relationship Type="http://schemas.openxmlformats.org/officeDocument/2006/relationships/notesMaster" Target="/ppt/notesMasters/notesMaster1.xml" Id="Rccee78379865498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985ae9c5ab5416c" /><Relationship Type="http://schemas.openxmlformats.org/officeDocument/2006/relationships/notesMaster" Target="/ppt/notesMasters/notesMaster1.xml" Id="Ra65a4dd7ccc240c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a15be8152ed47bb" /><Relationship Type="http://schemas.openxmlformats.org/officeDocument/2006/relationships/notesMaster" Target="/ppt/notesMasters/notesMaster1.xml" Id="R8d049083e55b433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4fb5dfd1dcf4123" /><Relationship Type="http://schemas.openxmlformats.org/officeDocument/2006/relationships/notesMaster" Target="/ppt/notesMasters/notesMaster1.xml" Id="R0992abd703d940c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ba993001da241ae" /><Relationship Type="http://schemas.openxmlformats.org/officeDocument/2006/relationships/notesMaster" Target="/ppt/notesMasters/notesMaster1.xml" Id="R329f047082404c6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d4655b05af243cf" /><Relationship Type="http://schemas.openxmlformats.org/officeDocument/2006/relationships/notesMaster" Target="/ppt/notesMasters/notesMaster1.xml" Id="R4fd4ad1d2b7b4c9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4a66688479f45e4" /><Relationship Type="http://schemas.openxmlformats.org/officeDocument/2006/relationships/notesMaster" Target="/ppt/notesMasters/notesMaster1.xml" Id="Rbd6e4905cff84fc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promise: the product reduces planning effort while increasing confidence that the itinerary works in the real world.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D:/IDEALIZE 2026 - SEMI FINALS - SUBMISSION GUIDELINES.pdf - pitch deck requirement</a:t>
            </a:r>
          </a:p>
          <a:p xmlns:a="http://schemas.openxmlformats.org/drawingml/2006/main">
            <a:r>
              <a:t>- Local product capture from http://localhost:3000/login on 2026-09-01</a:t>
            </a:r>
          </a:p>
          <a:p xmlns:a="http://schemas.openxmlformats.org/drawingml/2006/main">
            <a:r>
              <a:t>- D:/GitHub/Magic-Trip-Planner-Idealize/README.md - product description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the problem as a chain reaction: a destination choice affects the route, the route affects the stay, and both affect the budget.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D:/GitHub/Magic-Trip-Planner-Idealize/README.md - product problem and workflow framing</a:t>
            </a:r>
          </a:p>
          <a:p xmlns:a="http://schemas.openxmlformats.org/drawingml/2006/main">
            <a:r>
              <a:t>- D:/GitHub/Magic-Trip-Planner-Idealize/Frontend/src/app/page.tsx - user-facing value proposition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Move from the promise to the evidence: this is the implemented product interface, not a conceptual mock-up.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product capture from http://localhost:3000 on 2026-09-01</a:t>
            </a:r>
          </a:p>
          <a:p xmlns:a="http://schemas.openxmlformats.org/drawingml/2006/main">
            <a:r>
              <a:t>- D:/GitHub/Magic-Trip-Planner-Idealize/README.md - implemented product capabilities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that AI is used where it adds judgment, while routes, validation, budgets, and orchestration remain explicit application logic.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D:/GitHub/Magic-Trip-Planner-Idealize/README.md - How the AI workflow works</a:t>
            </a:r>
          </a:p>
          <a:p xmlns:a="http://schemas.openxmlformats.org/drawingml/2006/main">
            <a:r>
              <a:t>- D:/GitHub/Magic-Trip-Planner-Idealize/Backend/app/workers/planning_worker.py - durable planning sequence</a:t>
            </a:r>
          </a:p>
          <a:p xmlns:a="http://schemas.openxmlformats.org/drawingml/2006/main">
            <a:r>
              <a:t>- D:/GitHub/Magic-Trip-Planner-Idealize/Backend/app/agents/route_agent.py - deterministic route planning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counts as proof of implemented breadth, then mention reliability features as the reason the app can support real trips.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D:/GitHub/Magic-Trip-Planner-Idealize/Frontend/src/components/planner/PlannerWorkspace.tsx - eight-stage workspace</a:t>
            </a:r>
          </a:p>
          <a:p xmlns:a="http://schemas.openxmlformats.org/drawingml/2006/main">
            <a:r>
              <a:t>- D:/GitHub/Magic-Trip-Planner-Idealize/Frontend/src/components/planner/budget.tsx - print, calendar, and share outputs</a:t>
            </a:r>
          </a:p>
          <a:p xmlns:a="http://schemas.openxmlformats.org/drawingml/2006/main">
            <a:r>
              <a:t>- D:/GitHub/Magic-Trip-Planner-Idealize/Frontend/src/components/planner/TravelerToolkit.tsx - offline HTML export</a:t>
            </a:r>
          </a:p>
          <a:p xmlns:a="http://schemas.openxmlformats.org/drawingml/2006/main">
            <a:r>
              <a:t>- D:/GitHub/Magic-Trip-Planner-Idealize/Frontend/src/components/planner/ShareTrip.tsx - viewer/editor roles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comparison around workflow continuity rather than claiming that every alternative lacks useful discovery or booking features.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D:/GitHub/Magic-Trip-Planner-Idealize/README.md - implemented product capabilities and current limitations</a:t>
            </a:r>
          </a:p>
          <a:p xmlns:a="http://schemas.openxmlformats.org/drawingml/2006/main">
            <a:r>
              <a:t>- Comparison is qualitative and category-level; no named competitor claims are made.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market data as evidence of opportunity, then connect it to the official policy signal for technology-enabled visitor services.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https://sltda.gov.lk/en/monthly-tourist-arrivals-reports-2025 - 2024 and 2025 tourist arrivals and 15.1% growth</a:t>
            </a:r>
          </a:p>
          <a:p xmlns:a="http://schemas.openxmlformats.org/drawingml/2006/main">
            <a:r>
              <a:t>- https://www.cbsl.gov.lk/sites/default/files/cbslweb_documents/publications/aer/2025/en/25_Featured_Chart_08.pdf - 2025 tourism earnings of US$3.219 billion</a:t>
            </a:r>
          </a:p>
          <a:p xmlns:a="http://schemas.openxmlformats.org/drawingml/2006/main">
            <a:r>
              <a:t>- https://www.sltda.gov.lk/storage/common_media/Sri_Lanka-Final_V6_Edited850147500.pdf - technology-based tourism sector priority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explicit that the commercial model is the validation plan, not current revenue. The near-term KPI is completed, shared, or exported itineraries.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Commercial model and acquisition channels are team hypotheses for validation; no current revenue or traction is claimed.</a:t>
            </a:r>
          </a:p>
          <a:p xmlns:a="http://schemas.openxmlformats.org/drawingml/2006/main">
            <a:r>
              <a:t>- D:/GitHub/Magic-Trip-Planner-Idealize/README.md - implemented sharing, collaboration, and export surfaces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scaling logic: web requests stay responsive, the worker can scale independently, and PostgreSQL keeps jobs and plans durable across process restarts.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D:/GitHub/Magic-Trip-Planner-Idealize/README.md - architecture and production topology</a:t>
            </a:r>
          </a:p>
          <a:p xmlns:a="http://schemas.openxmlformats.org/drawingml/2006/main">
            <a:r>
              <a:t>- D:/GitHub/Magic-Trip-Planner-Idealize/DEPLOYMENT.md - Vercel, Azure, worker, and PostgreSQL deployment model</a:t>
            </a:r>
          </a:p>
          <a:p xmlns:a="http://schemas.openxmlformats.org/drawingml/2006/main">
            <a:r>
              <a:t>- D:/GitHub/Magic-Trip-Planner-Idealize/Backend/app/workers/planning_worker.py - durable worker orchestration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Treat this as a sequence of validation gates. Trust and deployment quality come before transaction features or geographic expansion.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D:/GitHub/Magic-Trip-Planner-Idealize/README.md - current capabilities and limitations</a:t>
            </a:r>
          </a:p>
          <a:p xmlns:a="http://schemas.openxmlformats.org/drawingml/2006/main">
            <a:r>
              <a:t>- Roadmap items are planned future work, not currently implemented features.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resolving the opening promise, then transition immediately into the live product demonstration.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D:/IDEALIZE 2026 - SEMI FINALS - SUBMISSION GUIDELINES.pdf - working public web application and pitch-deck requirements</a:t>
            </a:r>
          </a:p>
          <a:p xmlns:a="http://schemas.openxmlformats.org/drawingml/2006/main">
            <a:r>
              <a:t>- D:/GitHub/Magic-Trip-Planner-Idealize/README.md - product and architecture summary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82d5a1374c4e7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55ce592f1a4fff" /><Relationship Type="http://schemas.openxmlformats.org/officeDocument/2006/relationships/slideLayout" Target="/ppt/slideLayouts/slideLayout1.xml" Id="R86f305c2bd0c4c1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6f305c2bd0c4c1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07503c0d3b4ffc" /><Relationship Type="http://schemas.openxmlformats.org/officeDocument/2006/relationships/image" Target="/ppt/media/image.jpeg" Id="Rbee872a1c60746e4" /><Relationship Type="http://schemas.openxmlformats.org/officeDocument/2006/relationships/notesSlide" Target="/ppt/notesSlides/notesSlide1.xml" Id="R64366ba51c0e4f7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6af96274c64e93" /><Relationship Type="http://schemas.openxmlformats.org/officeDocument/2006/relationships/notesSlide" Target="/ppt/notesSlides/notesSlide2.xml" Id="R71bc800a897249b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9dbc3670104ce4" /><Relationship Type="http://schemas.openxmlformats.org/officeDocument/2006/relationships/image" Target="/ppt/media/image2.jpeg" Id="Rf0150542127f4abb" /><Relationship Type="http://schemas.openxmlformats.org/officeDocument/2006/relationships/notesSlide" Target="/ppt/notesSlides/notesSlide3.xml" Id="R446a03879c174cc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923f07724e4d08" /><Relationship Type="http://schemas.openxmlformats.org/officeDocument/2006/relationships/notesSlide" Target="/ppt/notesSlides/notesSlide4.xml" Id="R4d8a895d4cd842d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015c90886b4e49" /><Relationship Type="http://schemas.openxmlformats.org/officeDocument/2006/relationships/notesSlide" Target="/ppt/notesSlides/notesSlide5.xml" Id="R6649a3d3a64346e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1e4254ac9b4166" /><Relationship Type="http://schemas.openxmlformats.org/officeDocument/2006/relationships/notesSlide" Target="/ppt/notesSlides/notesSlide6.xml" Id="R776d9193cfaa4c5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a3a11c71474141" /><Relationship Type="http://schemas.openxmlformats.org/officeDocument/2006/relationships/chart" Target="/ppt/slides/charts/chart1.xml" Id="R6675cc0a276b468b" /><Relationship Type="http://schemas.openxmlformats.org/officeDocument/2006/relationships/notesSlide" Target="/ppt/notesSlides/notesSlide7.xml" Id="R781a9d424c4e4dc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c2e9c31d4e4aeb" /><Relationship Type="http://schemas.openxmlformats.org/officeDocument/2006/relationships/notesSlide" Target="/ppt/notesSlides/notesSlide8.xml" Id="R2fbd03d1022a46f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2d7ee4b1e84335" /><Relationship Type="http://schemas.openxmlformats.org/officeDocument/2006/relationships/notesSlide" Target="/ppt/notesSlides/notesSlide9.xml" Id="Raf8c5e8fa7b9462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4e66deb68448bb" /><Relationship Type="http://schemas.openxmlformats.org/officeDocument/2006/relationships/notesSlide" Target="/ppt/notesSlides/notesSlide10.xml" Id="Rf912b58610944cc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19e943673848fb" /><Relationship Type="http://schemas.openxmlformats.org/officeDocument/2006/relationships/notesSlide" Target="/ppt/notesSlides/notesSlide11.xml" Id="Rbf1ef61dbbe146e9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Arrivals</c:v>
          </c:tx>
          <c:spPr>
            <a:solidFill xmlns:a="http://schemas.openxmlformats.org/drawingml/2006/main">
              <a:srgbClr val="1A6653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DCEBE4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D96B32"/>
              </a:solidFill>
            </c:spPr>
          </c:dPt>
          <c:cat>
            <c:numLit>
              <c:formatCode>General</c:formatCode>
              <c:ptCount val="2"/>
              <c:pt idx="0">
                <c:v>2024</c:v>
              </c:pt>
              <c:pt idx="1">
                <c:v>2025</c:v>
              </c:pt>
            </c:numLit>
          </c:cat>
          <c:val>
            <c:numLit>
              <c:formatCode>#,##0</c:formatCode>
              <c:ptCount val="2"/>
              <c:pt idx="0">
                <c:v>2053465</c:v>
              </c:pt>
              <c:pt idx="1">
                <c:v>2362521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43A3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8D2C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43A31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2500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EF2EF"/>
              </a:solidFill>
              <a:prstDash val="solid"/>
            </a:ln>
          </c:spPr>
        </c:majorGridlines>
        <c:numFmt formatCode="0.0,,&quot;M&quot;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1766F"/>
                </a:solidFill>
              </a:defRPr>
            </a:pPr>
          </a:p>
        </c:txPr>
        <c:crossAx val="48650112"/>
        <c:crossBetween val="between"/>
        <c:majorUnit val="50000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4A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ver-image-backing">
            <a:extLst xmlns:a="http://schemas.openxmlformats.org/drawingml/2006/main">
              <a:ext uri="{FF2B5EF4-FFF2-40B4-BE49-F238E27FC236}">
                <a16:creationId xmlns:a16="http://schemas.microsoft.com/office/drawing/2014/main" id="{96F70CD0-153D-4158-882D-6A00760E1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6000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e872a1c60746e4"/>
          <a:stretch xmlns:a="http://schemas.openxmlformats.org/drawingml/2006/main"/>
        </p:blipFill>
        <p:spPr>
          <a:xfrm xmlns:a="http://schemas.openxmlformats.org/drawingml/2006/main">
            <a:off x="6191250" y="871303"/>
            <a:ext cx="6000750" cy="5115393"/>
          </a:xfrm>
          <a:prstGeom xmlns:a="http://schemas.openxmlformats.org/drawingml/2006/main" prst="rect">
            <a:avLst/>
          </a:prstGeom>
        </p:spPr>
      </p:pic>
      <p:sp>
        <p:nvSpPr>
          <p:cNvPr id="3" name="rect-624-0">
            <a:extLst xmlns:a="http://schemas.openxmlformats.org/drawingml/2006/main">
              <a:ext uri="{FF2B5EF4-FFF2-40B4-BE49-F238E27FC236}">
                <a16:creationId xmlns:a16="http://schemas.microsoft.com/office/drawing/2014/main" id="{9A86D300-D614-4CC0-90B2-083AF3B53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32"/>
          </a:solidFill>
          <a:ln xmlns:a="http://schemas.openxmlformats.org/drawingml/2006/main" w="0">
            <a:solidFill>
              <a:srgbClr val="D96B32"/>
            </a:solidFill>
            <a:prstDash val="solid"/>
          </a:ln>
        </p:spPr>
      </p:sp>
      <p:sp>
        <p:nvSpPr>
          <p:cNvPr id="4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29D9CFB8-B778-462A-8B60-45BBD36CA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E1D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8E1D5"/>
                </a:solidFill>
                <a:latin typeface="Arial"/>
                <a:ea typeface="Arial"/>
                <a:cs typeface="Arial"/>
              </a:rPr>
              <a:t>IDEALIZE 2026  /  SEMI-FINALS</a:t>
            </a:r>
          </a:p>
        </p:txBody>
      </p:sp>
      <p:sp>
        <p:nvSpPr>
          <p:cNvPr id="5" name="cover-title">
            <a:extLst xmlns:a="http://schemas.openxmlformats.org/drawingml/2006/main">
              <a:ext uri="{FF2B5EF4-FFF2-40B4-BE49-F238E27FC236}">
                <a16:creationId xmlns:a16="http://schemas.microsoft.com/office/drawing/2014/main" id="{9B4457AC-2FFF-4FC4-8334-CDB3E130B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Magic Trip</a:t>
            </a:r>
          </a:p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Planner</a:t>
            </a:r>
          </a:p>
        </p:txBody>
      </p:sp>
      <p:sp>
        <p:nvSpPr>
          <p:cNvPr id="6" name="cover-tagline">
            <a:extLst xmlns:a="http://schemas.openxmlformats.org/drawingml/2006/main">
              <a:ext uri="{FF2B5EF4-FFF2-40B4-BE49-F238E27FC236}">
                <a16:creationId xmlns:a16="http://schemas.microsoft.com/office/drawing/2014/main" id="{CE351A77-5BE1-4B1A-AC53-EF130D525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86150"/>
            <a:ext cx="4762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DCEBE4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DCEBE4"/>
                </a:solidFill>
                <a:latin typeface="Arial"/>
                <a:ea typeface="Arial"/>
                <a:cs typeface="Arial"/>
              </a:rPr>
              <a:t>Less planning.</a:t>
            </a:r>
          </a:p>
          <a:p xmlns:a="http://schemas.openxmlformats.org/drawingml/2006/main">
            <a:pPr algn="l">
              <a:defRPr sz="2850" b="0">
                <a:solidFill>
                  <a:srgbClr val="DCEBE4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DCEBE4"/>
                </a:solidFill>
                <a:latin typeface="Arial"/>
                <a:ea typeface="Arial"/>
                <a:cs typeface="Arial"/>
              </a:rPr>
              <a:t>More going.</a:t>
            </a:r>
          </a:p>
        </p:txBody>
      </p:sp>
      <p:sp>
        <p:nvSpPr>
          <p:cNvPr id="7" name="cover-summary">
            <a:extLst xmlns:a="http://schemas.openxmlformats.org/drawingml/2006/main">
              <a:ext uri="{FF2B5EF4-FFF2-40B4-BE49-F238E27FC236}">
                <a16:creationId xmlns:a16="http://schemas.microsoft.com/office/drawing/2014/main" id="{D4A7ACAD-4D66-43AD-A6F4-7B53ED28D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0"/>
            <a:ext cx="495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AI-assisted Sri Lanka itineraries that connect places, routes, stays, and costs in one restorable plan.</a:t>
            </a:r>
          </a:p>
        </p:txBody>
      </p:sp>
      <p:sp>
        <p:nvSpPr>
          <p:cNvPr id="8" name="text-54-656">
            <a:extLst xmlns:a="http://schemas.openxmlformats.org/drawingml/2006/main">
              <a:ext uri="{FF2B5EF4-FFF2-40B4-BE49-F238E27FC236}">
                <a16:creationId xmlns:a16="http://schemas.microsoft.com/office/drawing/2014/main" id="{F873EEFB-6B30-480F-9E9C-3F81AE8D5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4840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8E1D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8E1D5"/>
                </a:solidFill>
                <a:latin typeface="Arial"/>
                <a:ea typeface="Arial"/>
                <a:cs typeface="Arial"/>
              </a:rPr>
              <a:t>WEB APPLICATION PITCH DECK</a:t>
            </a:r>
          </a:p>
        </p:txBody>
      </p:sp>
    </p:spTree>
    <p:extLst>
      <p:ext uri="{BB962C8B-B14F-4D97-AF65-F5344CB8AC3E}">
        <p14:creationId xmlns:p14="http://schemas.microsoft.com/office/powerpoint/2010/main" val="6302093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ection-2">
            <a:extLst xmlns:a="http://schemas.openxmlformats.org/drawingml/2006/main">
              <a:ext uri="{FF2B5EF4-FFF2-40B4-BE49-F238E27FC236}">
                <a16:creationId xmlns:a16="http://schemas.microsoft.com/office/drawing/2014/main" id="{CD49468D-4FBA-4635-B9F2-A18F66E1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6B3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96B32"/>
                </a:solidFill>
                <a:latin typeface="Arial"/>
                <a:ea typeface="Arial"/>
                <a:cs typeface="Arial"/>
              </a:rPr>
              <a:t>PROBLEM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29DECCC5-AD88-44CA-8EFF-C7521C7A4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2204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764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Planning a trip still means stitching disconnected decisions together.</a:t>
            </a:r>
          </a:p>
        </p:txBody>
      </p:sp>
      <p:sp>
        <p:nvSpPr>
          <p:cNvPr id="3" name="rule-152">
            <a:extLst xmlns:a="http://schemas.openxmlformats.org/drawingml/2006/main">
              <a:ext uri="{FF2B5EF4-FFF2-40B4-BE49-F238E27FC236}">
                <a16:creationId xmlns:a16="http://schemas.microsoft.com/office/drawing/2014/main" id="{DCE86446-8AB8-4069-A5AA-B2C273E1C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CD"/>
          </a:solidFill>
          <a:ln xmlns:a="http://schemas.openxmlformats.org/drawingml/2006/main" w="0">
            <a:solidFill>
              <a:srgbClr val="C8D2CD"/>
            </a:solidFill>
            <a:prstDash val="solid"/>
          </a:ln>
        </p:spPr>
      </p:sp>
      <p:sp>
        <p:nvSpPr>
          <p:cNvPr id="4" name="slide-number-2">
            <a:extLst xmlns:a="http://schemas.openxmlformats.org/drawingml/2006/main">
              <a:ext uri="{FF2B5EF4-FFF2-40B4-BE49-F238E27FC236}">
                <a16:creationId xmlns:a16="http://schemas.microsoft.com/office/drawing/2014/main" id="{66972853-5081-4256-869A-2D18A75A9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text-48-184">
            <a:extLst xmlns:a="http://schemas.openxmlformats.org/drawingml/2006/main">
              <a:ext uri="{FF2B5EF4-FFF2-40B4-BE49-F238E27FC236}">
                <a16:creationId xmlns:a16="http://schemas.microsoft.com/office/drawing/2014/main" id="{980324A8-CCB6-402C-98CA-A49A61A66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5619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491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Travelers discover places, check routes, compare stays, and estimate costs in separate tools. Each decision can invalidate the next.</a:t>
            </a:r>
          </a:p>
        </p:txBody>
      </p:sp>
      <p:sp>
        <p:nvSpPr>
          <p:cNvPr id="6" name="rect-48-332">
            <a:extLst xmlns:a="http://schemas.openxmlformats.org/drawingml/2006/main">
              <a:ext uri="{FF2B5EF4-FFF2-40B4-BE49-F238E27FC236}">
                <a16:creationId xmlns:a16="http://schemas.microsoft.com/office/drawing/2014/main" id="{AA7AFA7C-002A-41D1-86FE-5E34C55C5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62300"/>
            <a:ext cx="5619750" cy="2324100"/>
          </a:xfrm>
          <a:prstGeom xmlns:a="http://schemas.openxmlformats.org/drawingml/2006/main" prst="roundRect">
            <a:avLst>
              <a:gd name="adj" fmla="val 7377"/>
            </a:avLst>
          </a:prstGeom>
          <a:solidFill xmlns:a="http://schemas.openxmlformats.org/drawingml/2006/main">
            <a:srgbClr val="0D4A3B"/>
          </a:solidFill>
          <a:ln xmlns:a="http://schemas.openxmlformats.org/drawingml/2006/main" w="0">
            <a:solidFill>
              <a:srgbClr val="0D4A3B"/>
            </a:solidFill>
            <a:prstDash val="solid"/>
          </a:ln>
        </p:spPr>
      </p:sp>
      <p:sp>
        <p:nvSpPr>
          <p:cNvPr id="7" name="text-78-364">
            <a:extLst xmlns:a="http://schemas.openxmlformats.org/drawingml/2006/main">
              <a:ext uri="{FF2B5EF4-FFF2-40B4-BE49-F238E27FC236}">
                <a16:creationId xmlns:a16="http://schemas.microsoft.com/office/drawing/2014/main" id="{2B8016AC-5D8A-4286-A20C-DFE0C9F6E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671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8E1D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8E1D5"/>
                </a:solidFill>
                <a:latin typeface="Arial"/>
                <a:ea typeface="Arial"/>
                <a:cs typeface="Arial"/>
              </a:rPr>
              <a:t>THE CONSEQUENCE</a:t>
            </a:r>
          </a:p>
        </p:txBody>
      </p:sp>
      <p:sp>
        <p:nvSpPr>
          <p:cNvPr id="8" name="text-78-412">
            <a:extLst xmlns:a="http://schemas.openxmlformats.org/drawingml/2006/main">
              <a:ext uri="{FF2B5EF4-FFF2-40B4-BE49-F238E27FC236}">
                <a16:creationId xmlns:a16="http://schemas.microsoft.com/office/drawing/2014/main" id="{13BBA782-837F-4999-93D4-D99729C78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24300"/>
            <a:ext cx="48196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plan that looks exciting can still fail on timing, distance, accommodation, or budget.</a:t>
            </a:r>
          </a:p>
        </p:txBody>
      </p:sp>
      <p:sp>
        <p:nvSpPr>
          <p:cNvPr id="9" name="text-708-194">
            <a:extLst xmlns:a="http://schemas.openxmlformats.org/drawingml/2006/main">
              <a:ext uri="{FF2B5EF4-FFF2-40B4-BE49-F238E27FC236}">
                <a16:creationId xmlns:a16="http://schemas.microsoft.com/office/drawing/2014/main" id="{BC87D323-7660-4C3C-A9A2-4BDE85E1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84785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96B3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D96B3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text-798-194">
            <a:extLst xmlns:a="http://schemas.openxmlformats.org/drawingml/2006/main">
              <a:ext uri="{FF2B5EF4-FFF2-40B4-BE49-F238E27FC236}">
                <a16:creationId xmlns:a16="http://schemas.microsoft.com/office/drawing/2014/main" id="{8225ACB1-5B90-42D1-AA82-7C8D95A8C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8478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Discovery overload</a:t>
            </a:r>
          </a:p>
        </p:txBody>
      </p:sp>
      <p:sp>
        <p:nvSpPr>
          <p:cNvPr id="11" name="text-798-236">
            <a:extLst xmlns:a="http://schemas.openxmlformats.org/drawingml/2006/main">
              <a:ext uri="{FF2B5EF4-FFF2-40B4-BE49-F238E27FC236}">
                <a16:creationId xmlns:a16="http://schemas.microsoft.com/office/drawing/2014/main" id="{4B105D15-59D4-47AB-B3CB-F6604A242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247900"/>
            <a:ext cx="371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Attractions and stays are compared without a single trip context.</a:t>
            </a:r>
          </a:p>
        </p:txBody>
      </p:sp>
      <p:sp>
        <p:nvSpPr>
          <p:cNvPr id="12" name="rule-312">
            <a:extLst xmlns:a="http://schemas.openxmlformats.org/drawingml/2006/main">
              <a:ext uri="{FF2B5EF4-FFF2-40B4-BE49-F238E27FC236}">
                <a16:creationId xmlns:a16="http://schemas.microsoft.com/office/drawing/2014/main" id="{9D04386E-42B4-4883-8DD9-662B6AE44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7180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CD"/>
          </a:solidFill>
          <a:ln xmlns:a="http://schemas.openxmlformats.org/drawingml/2006/main" w="0">
            <a:solidFill>
              <a:srgbClr val="C8D2CD"/>
            </a:solidFill>
            <a:prstDash val="solid"/>
          </a:ln>
        </p:spPr>
      </p:sp>
      <p:sp>
        <p:nvSpPr>
          <p:cNvPr id="13" name="text-708-332">
            <a:extLst xmlns:a="http://schemas.openxmlformats.org/drawingml/2006/main">
              <a:ext uri="{FF2B5EF4-FFF2-40B4-BE49-F238E27FC236}">
                <a16:creationId xmlns:a16="http://schemas.microsoft.com/office/drawing/2014/main" id="{61A2EA39-0E7F-4D2B-A09C-64330AD5A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16230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96B3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D96B3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text-798-332">
            <a:extLst xmlns:a="http://schemas.openxmlformats.org/drawingml/2006/main">
              <a:ext uri="{FF2B5EF4-FFF2-40B4-BE49-F238E27FC236}">
                <a16:creationId xmlns:a16="http://schemas.microsoft.com/office/drawing/2014/main" id="{5821E86F-21EB-4461-8956-F8877A2AB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1623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Route reality</a:t>
            </a:r>
          </a:p>
        </p:txBody>
      </p:sp>
      <p:sp>
        <p:nvSpPr>
          <p:cNvPr id="15" name="text-798-374">
            <a:extLst xmlns:a="http://schemas.openxmlformats.org/drawingml/2006/main">
              <a:ext uri="{FF2B5EF4-FFF2-40B4-BE49-F238E27FC236}">
                <a16:creationId xmlns:a16="http://schemas.microsoft.com/office/drawing/2014/main" id="{74CFFB96-CE8D-43F9-909B-9CD5B8222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562350"/>
            <a:ext cx="371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Travel time, stop order, and daily hotel endpoints are easy to underestimate.</a:t>
            </a:r>
          </a:p>
        </p:txBody>
      </p:sp>
      <p:sp>
        <p:nvSpPr>
          <p:cNvPr id="16" name="rule-450">
            <a:extLst xmlns:a="http://schemas.openxmlformats.org/drawingml/2006/main">
              <a:ext uri="{FF2B5EF4-FFF2-40B4-BE49-F238E27FC236}">
                <a16:creationId xmlns:a16="http://schemas.microsoft.com/office/drawing/2014/main" id="{04CB2B1B-20BB-4CDE-B8A9-941FF32EC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28625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CD"/>
          </a:solidFill>
          <a:ln xmlns:a="http://schemas.openxmlformats.org/drawingml/2006/main" w="0">
            <a:solidFill>
              <a:srgbClr val="C8D2CD"/>
            </a:solidFill>
            <a:prstDash val="solid"/>
          </a:ln>
        </p:spPr>
      </p:sp>
      <p:sp>
        <p:nvSpPr>
          <p:cNvPr id="17" name="text-708-470">
            <a:extLst xmlns:a="http://schemas.openxmlformats.org/drawingml/2006/main">
              <a:ext uri="{FF2B5EF4-FFF2-40B4-BE49-F238E27FC236}">
                <a16:creationId xmlns:a16="http://schemas.microsoft.com/office/drawing/2014/main" id="{F2E224D3-7448-44A1-9CD3-B97261EFB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47675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96B3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D96B3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text-798-470">
            <a:extLst xmlns:a="http://schemas.openxmlformats.org/drawingml/2006/main">
              <a:ext uri="{FF2B5EF4-FFF2-40B4-BE49-F238E27FC236}">
                <a16:creationId xmlns:a16="http://schemas.microsoft.com/office/drawing/2014/main" id="{3B8786B3-0E76-4775-97B7-7AC12888E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4767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Budget uncertainty</a:t>
            </a:r>
          </a:p>
        </p:txBody>
      </p:sp>
      <p:sp>
        <p:nvSpPr>
          <p:cNvPr id="19" name="text-798-512">
            <a:extLst xmlns:a="http://schemas.openxmlformats.org/drawingml/2006/main">
              <a:ext uri="{FF2B5EF4-FFF2-40B4-BE49-F238E27FC236}">
                <a16:creationId xmlns:a16="http://schemas.microsoft.com/office/drawing/2014/main" id="{FEF7E41B-48AB-42E6-AFBA-0ED4AAD83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876800"/>
            <a:ext cx="371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Costs are rarely combined into one Sri Lanka-ready LKR estimate.</a:t>
            </a:r>
          </a:p>
        </p:txBody>
      </p:sp>
    </p:spTree>
    <p:extLst>
      <p:ext uri="{BB962C8B-B14F-4D97-AF65-F5344CB8AC3E}">
        <p14:creationId xmlns:p14="http://schemas.microsoft.com/office/powerpoint/2010/main" val="20497266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ection-3">
            <a:extLst xmlns:a="http://schemas.openxmlformats.org/drawingml/2006/main">
              <a:ext uri="{FF2B5EF4-FFF2-40B4-BE49-F238E27FC236}">
                <a16:creationId xmlns:a16="http://schemas.microsoft.com/office/drawing/2014/main" id="{2DFBC551-A133-4DD2-9DD2-88829156D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6B3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96B32"/>
                </a:solidFill>
                <a:latin typeface="Arial"/>
                <a:ea typeface="Arial"/>
                <a:cs typeface="Arial"/>
              </a:rPr>
              <a:t>SOLUTION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7898F266-8B0C-4B22-A268-94EB03153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2204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964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One trip record connects every decision from idea to itinerary.</a:t>
            </a:r>
          </a:p>
        </p:txBody>
      </p:sp>
      <p:sp>
        <p:nvSpPr>
          <p:cNvPr id="3" name="rule-152">
            <a:extLst xmlns:a="http://schemas.openxmlformats.org/drawingml/2006/main">
              <a:ext uri="{FF2B5EF4-FFF2-40B4-BE49-F238E27FC236}">
                <a16:creationId xmlns:a16="http://schemas.microsoft.com/office/drawing/2014/main" id="{59FA2597-08FF-404B-B5D4-9B2B1A2D5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CD"/>
          </a:solidFill>
          <a:ln xmlns:a="http://schemas.openxmlformats.org/drawingml/2006/main" w="0">
            <a:solidFill>
              <a:srgbClr val="C8D2CD"/>
            </a:solidFill>
            <a:prstDash val="solid"/>
          </a:ln>
        </p:spPr>
      </p:sp>
      <p:sp>
        <p:nvSpPr>
          <p:cNvPr id="4" name="slide-number-3">
            <a:extLst xmlns:a="http://schemas.openxmlformats.org/drawingml/2006/main">
              <a:ext uri="{FF2B5EF4-FFF2-40B4-BE49-F238E27FC236}">
                <a16:creationId xmlns:a16="http://schemas.microsoft.com/office/drawing/2014/main" id="{8D8587D6-E7FA-4F6A-935E-B5A3169B1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text-48-190">
            <a:extLst xmlns:a="http://schemas.openxmlformats.org/drawingml/2006/main">
              <a:ext uri="{FF2B5EF4-FFF2-40B4-BE49-F238E27FC236}">
                <a16:creationId xmlns:a16="http://schemas.microsoft.com/office/drawing/2014/main" id="{ACFBEC27-1161-4063-9E3E-A9FB80357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96B3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96B32"/>
                </a:solidFill>
                <a:latin typeface="Arial"/>
                <a:ea typeface="Arial"/>
                <a:cs typeface="Arial"/>
              </a:rPr>
              <a:t>MAGIC TRIP PLANNER</a:t>
            </a:r>
          </a:p>
        </p:txBody>
      </p:sp>
      <p:sp>
        <p:nvSpPr>
          <p:cNvPr id="6" name="text-48-228">
            <a:extLst xmlns:a="http://schemas.openxmlformats.org/drawingml/2006/main">
              <a:ext uri="{FF2B5EF4-FFF2-40B4-BE49-F238E27FC236}">
                <a16:creationId xmlns:a16="http://schemas.microsoft.com/office/drawing/2014/main" id="{852AD853-753A-41A9-82C9-1477CA58C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71700"/>
            <a:ext cx="4476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A guided workspace turns traveler inputs into a map-verified, editable plan that can be saved, shared, restored, and exported.</a:t>
            </a:r>
          </a:p>
        </p:txBody>
      </p:sp>
      <p:sp>
        <p:nvSpPr>
          <p:cNvPr id="7" name="rect-50-386">
            <a:extLst xmlns:a="http://schemas.openxmlformats.org/drawingml/2006/main">
              <a:ext uri="{FF2B5EF4-FFF2-40B4-BE49-F238E27FC236}">
                <a16:creationId xmlns:a16="http://schemas.microsoft.com/office/drawing/2014/main" id="{5E12B8D4-CC45-4A9C-8EB4-F257A4AAE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76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B32"/>
          </a:solidFill>
          <a:ln xmlns:a="http://schemas.openxmlformats.org/drawingml/2006/main" w="0">
            <a:solidFill>
              <a:srgbClr val="D96B32"/>
            </a:solidFill>
            <a:prstDash val="solid"/>
          </a:ln>
        </p:spPr>
      </p:sp>
      <p:sp>
        <p:nvSpPr>
          <p:cNvPr id="8" name="text-78-382">
            <a:extLst xmlns:a="http://schemas.openxmlformats.org/drawingml/2006/main">
              <a:ext uri="{FF2B5EF4-FFF2-40B4-BE49-F238E27FC236}">
                <a16:creationId xmlns:a16="http://schemas.microsoft.com/office/drawing/2014/main" id="{E6285D17-E08F-4270-870D-BE4707E87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38550"/>
            <a:ext cx="411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3A31"/>
                </a:solidFill>
                <a:latin typeface="Arial"/>
                <a:ea typeface="Arial"/>
                <a:cs typeface="Arial"/>
              </a:rPr>
              <a:t>AI-matched Sri Lanka destinations</a:t>
            </a:r>
          </a:p>
        </p:txBody>
      </p:sp>
      <p:sp>
        <p:nvSpPr>
          <p:cNvPr id="9" name="rect-50-432">
            <a:extLst xmlns:a="http://schemas.openxmlformats.org/drawingml/2006/main">
              <a:ext uri="{FF2B5EF4-FFF2-40B4-BE49-F238E27FC236}">
                <a16:creationId xmlns:a16="http://schemas.microsoft.com/office/drawing/2014/main" id="{96728222-ABE6-4512-BFEE-213FE73A4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14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B32"/>
          </a:solidFill>
          <a:ln xmlns:a="http://schemas.openxmlformats.org/drawingml/2006/main" w="0">
            <a:solidFill>
              <a:srgbClr val="D96B32"/>
            </a:solidFill>
            <a:prstDash val="solid"/>
          </a:ln>
        </p:spPr>
      </p:sp>
      <p:sp>
        <p:nvSpPr>
          <p:cNvPr id="10" name="text-78-428">
            <a:extLst xmlns:a="http://schemas.openxmlformats.org/drawingml/2006/main">
              <a:ext uri="{FF2B5EF4-FFF2-40B4-BE49-F238E27FC236}">
                <a16:creationId xmlns:a16="http://schemas.microsoft.com/office/drawing/2014/main" id="{673AA1E1-DA4E-4618-B46E-F11D2A3B0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76700"/>
            <a:ext cx="411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3A31"/>
                </a:solidFill>
                <a:latin typeface="Arial"/>
                <a:ea typeface="Arial"/>
                <a:cs typeface="Arial"/>
              </a:rPr>
              <a:t>Day-by-day road routes and timing</a:t>
            </a:r>
          </a:p>
        </p:txBody>
      </p:sp>
      <p:sp>
        <p:nvSpPr>
          <p:cNvPr id="11" name="rect-50-478">
            <a:extLst xmlns:a="http://schemas.openxmlformats.org/drawingml/2006/main">
              <a:ext uri="{FF2B5EF4-FFF2-40B4-BE49-F238E27FC236}">
                <a16:creationId xmlns:a16="http://schemas.microsoft.com/office/drawing/2014/main" id="{8972F3F1-1815-4F0D-9E3F-6C390C9AD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52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B32"/>
          </a:solidFill>
          <a:ln xmlns:a="http://schemas.openxmlformats.org/drawingml/2006/main" w="0">
            <a:solidFill>
              <a:srgbClr val="D96B32"/>
            </a:solidFill>
            <a:prstDash val="solid"/>
          </a:ln>
        </p:spPr>
      </p:sp>
      <p:sp>
        <p:nvSpPr>
          <p:cNvPr id="12" name="text-78-474">
            <a:extLst xmlns:a="http://schemas.openxmlformats.org/drawingml/2006/main">
              <a:ext uri="{FF2B5EF4-FFF2-40B4-BE49-F238E27FC236}">
                <a16:creationId xmlns:a16="http://schemas.microsoft.com/office/drawing/2014/main" id="{505D9523-94CA-44C0-B9D0-036ED5DC5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14850"/>
            <a:ext cx="411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3A31"/>
                </a:solidFill>
                <a:latin typeface="Arial"/>
                <a:ea typeface="Arial"/>
                <a:cs typeface="Arial"/>
              </a:rPr>
              <a:t>Daily stays near route endpoints</a:t>
            </a:r>
          </a:p>
        </p:txBody>
      </p:sp>
      <p:sp>
        <p:nvSpPr>
          <p:cNvPr id="13" name="rect-50-524">
            <a:extLst xmlns:a="http://schemas.openxmlformats.org/drawingml/2006/main">
              <a:ext uri="{FF2B5EF4-FFF2-40B4-BE49-F238E27FC236}">
                <a16:creationId xmlns:a16="http://schemas.microsoft.com/office/drawing/2014/main" id="{715DBD67-C90A-46CD-9D4C-59A075DEF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91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B32"/>
          </a:solidFill>
          <a:ln xmlns:a="http://schemas.openxmlformats.org/drawingml/2006/main" w="0">
            <a:solidFill>
              <a:srgbClr val="D96B32"/>
            </a:solidFill>
            <a:prstDash val="solid"/>
          </a:ln>
        </p:spPr>
      </p:sp>
      <p:sp>
        <p:nvSpPr>
          <p:cNvPr id="14" name="text-78-520">
            <a:extLst xmlns:a="http://schemas.openxmlformats.org/drawingml/2006/main">
              <a:ext uri="{FF2B5EF4-FFF2-40B4-BE49-F238E27FC236}">
                <a16:creationId xmlns:a16="http://schemas.microsoft.com/office/drawing/2014/main" id="{47D79B49-E58D-40C3-91C3-AE233B414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0"/>
            <a:ext cx="411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Practical LKR budget estimates</a:t>
            </a:r>
          </a:p>
        </p:txBody>
      </p:sp>
      <p:sp>
        <p:nvSpPr>
          <p:cNvPr id="15" name="rect-50-570">
            <a:extLst xmlns:a="http://schemas.openxmlformats.org/drawingml/2006/main">
              <a:ext uri="{FF2B5EF4-FFF2-40B4-BE49-F238E27FC236}">
                <a16:creationId xmlns:a16="http://schemas.microsoft.com/office/drawing/2014/main" id="{4956E007-A65D-40B9-BE49-D4F8E1BF1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429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B32"/>
          </a:solidFill>
          <a:ln xmlns:a="http://schemas.openxmlformats.org/drawingml/2006/main" w="0">
            <a:solidFill>
              <a:srgbClr val="D96B32"/>
            </a:solidFill>
            <a:prstDash val="solid"/>
          </a:ln>
        </p:spPr>
      </p:sp>
      <p:sp>
        <p:nvSpPr>
          <p:cNvPr id="16" name="text-78-566">
            <a:extLst xmlns:a="http://schemas.openxmlformats.org/drawingml/2006/main">
              <a:ext uri="{FF2B5EF4-FFF2-40B4-BE49-F238E27FC236}">
                <a16:creationId xmlns:a16="http://schemas.microsoft.com/office/drawing/2014/main" id="{62B5B9AC-DC6D-4CC5-831B-C8A3ED44E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411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3A31"/>
                </a:solidFill>
                <a:latin typeface="Arial"/>
                <a:ea typeface="Arial"/>
                <a:cs typeface="Arial"/>
              </a:rPr>
              <a:t>Share, print, calendar, and offline outputs</a:t>
            </a:r>
          </a:p>
        </p:txBody>
      </p:sp>
      <p:sp>
        <p:nvSpPr>
          <p:cNvPr id="17" name="rect-560-190">
            <a:extLst xmlns:a="http://schemas.openxmlformats.org/drawingml/2006/main">
              <a:ext uri="{FF2B5EF4-FFF2-40B4-BE49-F238E27FC236}">
                <a16:creationId xmlns:a16="http://schemas.microsoft.com/office/drawing/2014/main" id="{3F6207F4-790E-4FD9-9E5F-B918B1718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809750"/>
            <a:ext cx="6381750" cy="4229100"/>
          </a:xfrm>
          <a:prstGeom xmlns:a="http://schemas.openxmlformats.org/drawingml/2006/main" prst="roundRect">
            <a:avLst>
              <a:gd name="adj" fmla="val 4054"/>
            </a:avLst>
          </a:prstGeom>
          <a:solidFill xmlns:a="http://schemas.openxmlformats.org/drawingml/2006/main">
            <a:srgbClr val="EEF2EF"/>
          </a:solidFill>
          <a:ln xmlns:a="http://schemas.openxmlformats.org/drawingml/2006/main" w="9525">
            <a:solidFill>
              <a:srgbClr val="C8D2CD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150542127f4abb"/>
          <a:srcRect xmlns:a="http://schemas.openxmlformats.org/drawingml/2006/main" l="6420" t="0" r="642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86400" y="1962150"/>
            <a:ext cx="6076950" cy="3924300"/>
          </a:xfrm>
          <a:prstGeom xmlns:a="http://schemas.openxmlformats.org/drawingml/2006/main" prst="roundRect">
            <a:avLst>
              <a:gd name="adj" fmla="val 3398"/>
            </a:avLst>
          </a:prstGeom>
        </p:spPr>
      </p:pic>
    </p:spTree>
    <p:extLst>
      <p:ext uri="{BB962C8B-B14F-4D97-AF65-F5344CB8AC3E}">
        <p14:creationId xmlns:p14="http://schemas.microsoft.com/office/powerpoint/2010/main" val="20769933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ection-4">
            <a:extLst xmlns:a="http://schemas.openxmlformats.org/drawingml/2006/main">
              <a:ext uri="{FF2B5EF4-FFF2-40B4-BE49-F238E27FC236}">
                <a16:creationId xmlns:a16="http://schemas.microsoft.com/office/drawing/2014/main" id="{28810A95-CA78-409B-B2EA-8F7F7BD0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6B3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96B32"/>
                </a:solidFill>
                <a:latin typeface="Arial"/>
                <a:ea typeface="Arial"/>
                <a:cs typeface="Arial"/>
              </a:rPr>
              <a:t>PRODUCT FLOW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0029B627-E6B2-49CA-9958-626117E73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2204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799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Five connected stages turn preferences into a usable travel plan.</a:t>
            </a:r>
          </a:p>
        </p:txBody>
      </p:sp>
      <p:sp>
        <p:nvSpPr>
          <p:cNvPr id="3" name="rule-152">
            <a:extLst xmlns:a="http://schemas.openxmlformats.org/drawingml/2006/main">
              <a:ext uri="{FF2B5EF4-FFF2-40B4-BE49-F238E27FC236}">
                <a16:creationId xmlns:a16="http://schemas.microsoft.com/office/drawing/2014/main" id="{4C8EF5F2-6849-4686-882D-092F5F9DD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CD"/>
          </a:solidFill>
          <a:ln xmlns:a="http://schemas.openxmlformats.org/drawingml/2006/main" w="0">
            <a:solidFill>
              <a:srgbClr val="C8D2CD"/>
            </a:solidFill>
            <a:prstDash val="solid"/>
          </a:ln>
        </p:spPr>
      </p:sp>
      <p:sp>
        <p:nvSpPr>
          <p:cNvPr id="4" name="slide-number-4">
            <a:extLst xmlns:a="http://schemas.openxmlformats.org/drawingml/2006/main">
              <a:ext uri="{FF2B5EF4-FFF2-40B4-BE49-F238E27FC236}">
                <a16:creationId xmlns:a16="http://schemas.microsoft.com/office/drawing/2014/main" id="{21397317-A86D-4CE2-B3A1-ADCC7C3E9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text-48-184">
            <a:extLst xmlns:a="http://schemas.openxmlformats.org/drawingml/2006/main">
              <a:ext uri="{FF2B5EF4-FFF2-40B4-BE49-F238E27FC236}">
                <a16:creationId xmlns:a16="http://schemas.microsoft.com/office/drawing/2014/main" id="{C558BD12-54A7-4029-BC89-96600842D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942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593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The system combines structured AI output with deterministic routing, pricing, persistence, and provider fallbacks.</a:t>
            </a:r>
          </a:p>
        </p:txBody>
      </p:sp>
      <p:sp>
        <p:nvSpPr>
          <p:cNvPr id="6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4E626AF7-E59F-4575-A1C3-5D0F75094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5242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6B32"/>
          </a:solidFill>
          <a:ln xmlns:a="http://schemas.openxmlformats.org/drawingml/2006/main" w="0">
            <a:solidFill>
              <a:srgbClr val="D96B32"/>
            </a:solidFill>
            <a:prstDash val="solid"/>
          </a:ln>
        </p:spPr>
      </p:sp>
      <p:sp>
        <p:nvSpPr>
          <p:cNvPr id="7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3DA2027C-765E-4993-B87D-1A07E6C23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5242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6B32"/>
          </a:solidFill>
          <a:ln xmlns:a="http://schemas.openxmlformats.org/drawingml/2006/main" w="0">
            <a:solidFill>
              <a:srgbClr val="D96B32"/>
            </a:solidFill>
            <a:prstDash val="solid"/>
          </a:ln>
        </p:spPr>
      </p:sp>
      <p:sp>
        <p:nvSpPr>
          <p:cNvPr id="8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A378CE00-2B9B-45AB-900F-89349B62B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5242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6B32"/>
          </a:solidFill>
          <a:ln xmlns:a="http://schemas.openxmlformats.org/drawingml/2006/main" w="0">
            <a:solidFill>
              <a:srgbClr val="D96B32"/>
            </a:solidFill>
            <a:prstDash val="solid"/>
          </a:ln>
        </p:spPr>
      </p:sp>
      <p:sp>
        <p:nvSpPr>
          <p:cNvPr id="9" name="flow-arrow-4">
            <a:extLst xmlns:a="http://schemas.openxmlformats.org/drawingml/2006/main">
              <a:ext uri="{FF2B5EF4-FFF2-40B4-BE49-F238E27FC236}">
                <a16:creationId xmlns:a16="http://schemas.microsoft.com/office/drawing/2014/main" id="{AD3E2EF5-2911-42AB-9BB5-BDEF01349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5242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6B32"/>
          </a:solidFill>
          <a:ln xmlns:a="http://schemas.openxmlformats.org/drawingml/2006/main" w="0">
            <a:solidFill>
              <a:srgbClr val="D96B32"/>
            </a:solidFill>
            <a:prstDash val="solid"/>
          </a:ln>
        </p:spPr>
      </p:sp>
      <p:sp>
        <p:nvSpPr>
          <p:cNvPr id="10" name="flow-node-1">
            <a:extLst xmlns:a="http://schemas.openxmlformats.org/drawingml/2006/main">
              <a:ext uri="{FF2B5EF4-FFF2-40B4-BE49-F238E27FC236}">
                <a16:creationId xmlns:a16="http://schemas.microsoft.com/office/drawing/2014/main" id="{1B9C9D76-BDF3-402D-B99C-409BA3A8D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90800"/>
            <a:ext cx="1847850" cy="2400300"/>
          </a:xfrm>
          <a:prstGeom xmlns:a="http://schemas.openxmlformats.org/drawingml/2006/main" prst="roundRect">
            <a:avLst>
              <a:gd name="adj" fmla="val 7216"/>
            </a:avLst>
          </a:prstGeom>
          <a:solidFill xmlns:a="http://schemas.openxmlformats.org/drawingml/2006/main">
            <a:srgbClr val="EEF2EF"/>
          </a:solidFill>
          <a:ln xmlns:a="http://schemas.openxmlformats.org/drawingml/2006/main" w="9525">
            <a:solidFill>
              <a:srgbClr val="C8D2CD"/>
            </a:solidFill>
            <a:prstDash val="solid"/>
          </a:ln>
        </p:spPr>
      </p:sp>
      <p:sp>
        <p:nvSpPr>
          <p:cNvPr id="11" name="text-70-294">
            <a:extLst xmlns:a="http://schemas.openxmlformats.org/drawingml/2006/main">
              <a:ext uri="{FF2B5EF4-FFF2-40B4-BE49-F238E27FC236}">
                <a16:creationId xmlns:a16="http://schemas.microsoft.com/office/drawing/2014/main" id="{D893D15B-E31E-4ED8-A5F7-00C78131B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0350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96B3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96B3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text-70-348">
            <a:extLst xmlns:a="http://schemas.openxmlformats.org/drawingml/2006/main">
              <a:ext uri="{FF2B5EF4-FFF2-40B4-BE49-F238E27FC236}">
                <a16:creationId xmlns:a16="http://schemas.microsoft.com/office/drawing/2014/main" id="{F34925D6-45E2-4DE1-93EC-0D29F48D1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147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Set intent</a:t>
            </a:r>
          </a:p>
        </p:txBody>
      </p:sp>
      <p:sp>
        <p:nvSpPr>
          <p:cNvPr id="13" name="text-70-406">
            <a:extLst xmlns:a="http://schemas.openxmlformats.org/drawingml/2006/main">
              <a:ext uri="{FF2B5EF4-FFF2-40B4-BE49-F238E27FC236}">
                <a16:creationId xmlns:a16="http://schemas.microsoft.com/office/drawing/2014/main" id="{47CD91BC-6FDA-47F7-8C4B-603F04F9D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67150"/>
            <a:ext cx="14668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529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Dates, budget, travelers, transport, pace, interests</a:t>
            </a:r>
          </a:p>
        </p:txBody>
      </p:sp>
      <p:sp>
        <p:nvSpPr>
          <p:cNvPr id="14" name="flow-node-2">
            <a:extLst xmlns:a="http://schemas.openxmlformats.org/drawingml/2006/main">
              <a:ext uri="{FF2B5EF4-FFF2-40B4-BE49-F238E27FC236}">
                <a16:creationId xmlns:a16="http://schemas.microsoft.com/office/drawing/2014/main" id="{7DE2DFC1-730C-48DC-9635-A24B4FDA3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590800"/>
            <a:ext cx="1847850" cy="2400300"/>
          </a:xfrm>
          <a:prstGeom xmlns:a="http://schemas.openxmlformats.org/drawingml/2006/main" prst="roundRect">
            <a:avLst>
              <a:gd name="adj" fmla="val 7216"/>
            </a:avLst>
          </a:prstGeom>
          <a:solidFill xmlns:a="http://schemas.openxmlformats.org/drawingml/2006/main">
            <a:srgbClr val="EEF2EF"/>
          </a:solidFill>
          <a:ln xmlns:a="http://schemas.openxmlformats.org/drawingml/2006/main" w="9525">
            <a:solidFill>
              <a:srgbClr val="C8D2CD"/>
            </a:solidFill>
            <a:prstDash val="solid"/>
          </a:ln>
        </p:spPr>
      </p:sp>
      <p:sp>
        <p:nvSpPr>
          <p:cNvPr id="15" name="text-314-294">
            <a:extLst xmlns:a="http://schemas.openxmlformats.org/drawingml/2006/main">
              <a:ext uri="{FF2B5EF4-FFF2-40B4-BE49-F238E27FC236}">
                <a16:creationId xmlns:a16="http://schemas.microsoft.com/office/drawing/2014/main" id="{811CACB0-B97C-4083-BEE5-DE68416C3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800350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96B3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96B3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text-314-348">
            <a:extLst xmlns:a="http://schemas.openxmlformats.org/drawingml/2006/main">
              <a:ext uri="{FF2B5EF4-FFF2-40B4-BE49-F238E27FC236}">
                <a16:creationId xmlns:a16="http://schemas.microsoft.com/office/drawing/2014/main" id="{F4AB0BE0-253D-46A6-B1C4-B9461B214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3147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Discover</a:t>
            </a:r>
          </a:p>
        </p:txBody>
      </p:sp>
      <p:sp>
        <p:nvSpPr>
          <p:cNvPr id="17" name="text-314-406">
            <a:extLst xmlns:a="http://schemas.openxmlformats.org/drawingml/2006/main">
              <a:ext uri="{FF2B5EF4-FFF2-40B4-BE49-F238E27FC236}">
                <a16:creationId xmlns:a16="http://schemas.microsoft.com/office/drawing/2014/main" id="{DE211815-B546-4FD6-BEEA-CC77C3D26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867150"/>
            <a:ext cx="14668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Gemini returns schema-validated destination ideas</a:t>
            </a:r>
          </a:p>
        </p:txBody>
      </p:sp>
      <p:sp>
        <p:nvSpPr>
          <p:cNvPr id="18" name="flow-node-3">
            <a:extLst xmlns:a="http://schemas.openxmlformats.org/drawingml/2006/main">
              <a:ext uri="{FF2B5EF4-FFF2-40B4-BE49-F238E27FC236}">
                <a16:creationId xmlns:a16="http://schemas.microsoft.com/office/drawing/2014/main" id="{D3521A53-04BF-4735-9B11-BDD93EFFF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590800"/>
            <a:ext cx="1847850" cy="2400300"/>
          </a:xfrm>
          <a:prstGeom xmlns:a="http://schemas.openxmlformats.org/drawingml/2006/main" prst="roundRect">
            <a:avLst>
              <a:gd name="adj" fmla="val 7216"/>
            </a:avLst>
          </a:prstGeom>
          <a:solidFill xmlns:a="http://schemas.openxmlformats.org/drawingml/2006/main">
            <a:srgbClr val="0D4A3B"/>
          </a:solidFill>
          <a:ln xmlns:a="http://schemas.openxmlformats.org/drawingml/2006/main" w="9525">
            <a:solidFill>
              <a:srgbClr val="0D4A3B"/>
            </a:solidFill>
            <a:prstDash val="solid"/>
          </a:ln>
        </p:spPr>
      </p:sp>
      <p:sp>
        <p:nvSpPr>
          <p:cNvPr id="19" name="text-558-294">
            <a:extLst xmlns:a="http://schemas.openxmlformats.org/drawingml/2006/main">
              <a:ext uri="{FF2B5EF4-FFF2-40B4-BE49-F238E27FC236}">
                <a16:creationId xmlns:a16="http://schemas.microsoft.com/office/drawing/2014/main" id="{543A1D06-0EB7-4E30-AF48-31B8E57D5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800350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8E1D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8E1D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text-558-348">
            <a:extLst xmlns:a="http://schemas.openxmlformats.org/drawingml/2006/main">
              <a:ext uri="{FF2B5EF4-FFF2-40B4-BE49-F238E27FC236}">
                <a16:creationId xmlns:a16="http://schemas.microsoft.com/office/drawing/2014/main" id="{6185537D-CC09-47F3-8934-E36089529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3147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Verify</a:t>
            </a:r>
          </a:p>
        </p:txBody>
      </p:sp>
      <p:sp>
        <p:nvSpPr>
          <p:cNvPr id="21" name="text-558-406">
            <a:extLst xmlns:a="http://schemas.openxmlformats.org/drawingml/2006/main">
              <a:ext uri="{FF2B5EF4-FFF2-40B4-BE49-F238E27FC236}">
                <a16:creationId xmlns:a16="http://schemas.microsoft.com/office/drawing/2014/main" id="{182C260D-6DCD-4F94-B91A-A8BB3C8CA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867150"/>
            <a:ext cx="14668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BE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CEBE4"/>
                </a:solidFill>
                <a:latin typeface="Arial"/>
                <a:ea typeface="Arial"/>
                <a:cs typeface="Arial"/>
              </a:rPr>
              <a:t>Geocoding keeps only map-backed places</a:t>
            </a:r>
          </a:p>
        </p:txBody>
      </p:sp>
      <p:sp>
        <p:nvSpPr>
          <p:cNvPr id="22" name="flow-node-4">
            <a:extLst xmlns:a="http://schemas.openxmlformats.org/drawingml/2006/main">
              <a:ext uri="{FF2B5EF4-FFF2-40B4-BE49-F238E27FC236}">
                <a16:creationId xmlns:a16="http://schemas.microsoft.com/office/drawing/2014/main" id="{69F54268-54C0-40C4-90F0-1BD573720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590800"/>
            <a:ext cx="1847850" cy="2400300"/>
          </a:xfrm>
          <a:prstGeom xmlns:a="http://schemas.openxmlformats.org/drawingml/2006/main" prst="roundRect">
            <a:avLst>
              <a:gd name="adj" fmla="val 7216"/>
            </a:avLst>
          </a:prstGeom>
          <a:solidFill xmlns:a="http://schemas.openxmlformats.org/drawingml/2006/main">
            <a:srgbClr val="EEF2EF"/>
          </a:solidFill>
          <a:ln xmlns:a="http://schemas.openxmlformats.org/drawingml/2006/main" w="9525">
            <a:solidFill>
              <a:srgbClr val="C8D2CD"/>
            </a:solidFill>
            <a:prstDash val="solid"/>
          </a:ln>
        </p:spPr>
      </p:sp>
      <p:sp>
        <p:nvSpPr>
          <p:cNvPr id="23" name="text-802-294">
            <a:extLst xmlns:a="http://schemas.openxmlformats.org/drawingml/2006/main">
              <a:ext uri="{FF2B5EF4-FFF2-40B4-BE49-F238E27FC236}">
                <a16:creationId xmlns:a16="http://schemas.microsoft.com/office/drawing/2014/main" id="{DE637F0F-D30F-4168-8D20-6E9F7AFFB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800350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96B3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96B3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text-802-348">
            <a:extLst xmlns:a="http://schemas.openxmlformats.org/drawingml/2006/main">
              <a:ext uri="{FF2B5EF4-FFF2-40B4-BE49-F238E27FC236}">
                <a16:creationId xmlns:a16="http://schemas.microsoft.com/office/drawing/2014/main" id="{645BD0B7-821A-410E-A457-CD0F2B8A1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3147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Build</a:t>
            </a:r>
          </a:p>
        </p:txBody>
      </p:sp>
      <p:sp>
        <p:nvSpPr>
          <p:cNvPr id="25" name="text-802-406">
            <a:extLst xmlns:a="http://schemas.openxmlformats.org/drawingml/2006/main">
              <a:ext uri="{FF2B5EF4-FFF2-40B4-BE49-F238E27FC236}">
                <a16:creationId xmlns:a16="http://schemas.microsoft.com/office/drawing/2014/main" id="{D7F2454C-53F8-4369-828A-F795512A2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867150"/>
            <a:ext cx="14668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Daily road routes and stays are sequenced</a:t>
            </a:r>
          </a:p>
        </p:txBody>
      </p:sp>
      <p:sp>
        <p:nvSpPr>
          <p:cNvPr id="26" name="flow-node-5">
            <a:extLst xmlns:a="http://schemas.openxmlformats.org/drawingml/2006/main">
              <a:ext uri="{FF2B5EF4-FFF2-40B4-BE49-F238E27FC236}">
                <a16:creationId xmlns:a16="http://schemas.microsoft.com/office/drawing/2014/main" id="{7598E9BD-3F4F-42A2-A444-978177487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590800"/>
            <a:ext cx="1847850" cy="2400300"/>
          </a:xfrm>
          <a:prstGeom xmlns:a="http://schemas.openxmlformats.org/drawingml/2006/main" prst="roundRect">
            <a:avLst>
              <a:gd name="adj" fmla="val 7216"/>
            </a:avLst>
          </a:prstGeom>
          <a:solidFill xmlns:a="http://schemas.openxmlformats.org/drawingml/2006/main">
            <a:srgbClr val="EEF2EF"/>
          </a:solidFill>
          <a:ln xmlns:a="http://schemas.openxmlformats.org/drawingml/2006/main" w="9525">
            <a:solidFill>
              <a:srgbClr val="C8D2CD"/>
            </a:solidFill>
            <a:prstDash val="solid"/>
          </a:ln>
        </p:spPr>
      </p:sp>
      <p:sp>
        <p:nvSpPr>
          <p:cNvPr id="27" name="text-1046-294">
            <a:extLst xmlns:a="http://schemas.openxmlformats.org/drawingml/2006/main">
              <a:ext uri="{FF2B5EF4-FFF2-40B4-BE49-F238E27FC236}">
                <a16:creationId xmlns:a16="http://schemas.microsoft.com/office/drawing/2014/main" id="{E1029460-426E-403B-A746-38EE1364C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800350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96B3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96B3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8" name="text-1046-348">
            <a:extLst xmlns:a="http://schemas.openxmlformats.org/drawingml/2006/main">
              <a:ext uri="{FF2B5EF4-FFF2-40B4-BE49-F238E27FC236}">
                <a16:creationId xmlns:a16="http://schemas.microsoft.com/office/drawing/2014/main" id="{9FB20E57-CBEF-4E32-9EB4-91D587CF2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3147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Complete</a:t>
            </a:r>
          </a:p>
        </p:txBody>
      </p:sp>
      <p:sp>
        <p:nvSpPr>
          <p:cNvPr id="29" name="text-1046-406">
            <a:extLst xmlns:a="http://schemas.openxmlformats.org/drawingml/2006/main">
              <a:ext uri="{FF2B5EF4-FFF2-40B4-BE49-F238E27FC236}">
                <a16:creationId xmlns:a16="http://schemas.microsoft.com/office/drawing/2014/main" id="{3030E4CD-E423-4896-9ADB-C795F5670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867150"/>
            <a:ext cx="14668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LKR budget, exports, sharing, and versions</a:t>
            </a:r>
          </a:p>
        </p:txBody>
      </p:sp>
      <p:sp>
        <p:nvSpPr>
          <p:cNvPr id="30" name="text-188-568">
            <a:extLst xmlns:a="http://schemas.openxmlformats.org/drawingml/2006/main">
              <a:ext uri="{FF2B5EF4-FFF2-40B4-BE49-F238E27FC236}">
                <a16:creationId xmlns:a16="http://schemas.microsoft.com/office/drawing/2014/main" id="{DC892082-5340-44FF-87CC-DA2D1A37B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410200"/>
            <a:ext cx="8610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979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Every stage saves state so the traveler can edit manually, retry, cancel, or restore an earlier plan.</a:t>
            </a:r>
          </a:p>
        </p:txBody>
      </p:sp>
    </p:spTree>
    <p:extLst>
      <p:ext uri="{BB962C8B-B14F-4D97-AF65-F5344CB8AC3E}">
        <p14:creationId xmlns:p14="http://schemas.microsoft.com/office/powerpoint/2010/main" val="2526564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ection-5">
            <a:extLst xmlns:a="http://schemas.openxmlformats.org/drawingml/2006/main">
              <a:ext uri="{FF2B5EF4-FFF2-40B4-BE49-F238E27FC236}">
                <a16:creationId xmlns:a16="http://schemas.microsoft.com/office/drawing/2014/main" id="{1529937A-A3C6-4958-81B3-E13B73C06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6B3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96B32"/>
                </a:solidFill>
                <a:latin typeface="Arial"/>
                <a:ea typeface="Arial"/>
                <a:cs typeface="Arial"/>
              </a:rPr>
              <a:t>PRODUCT PROOF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1C1A8858-21F7-4E4B-A671-E93D5A30D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2204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The MVP is built for real planning, not a one-shot demo.</a:t>
            </a:r>
          </a:p>
        </p:txBody>
      </p:sp>
      <p:sp>
        <p:nvSpPr>
          <p:cNvPr id="3" name="rule-152">
            <a:extLst xmlns:a="http://schemas.openxmlformats.org/drawingml/2006/main">
              <a:ext uri="{FF2B5EF4-FFF2-40B4-BE49-F238E27FC236}">
                <a16:creationId xmlns:a16="http://schemas.microsoft.com/office/drawing/2014/main" id="{7BB1D24C-C714-4197-A143-5CD22D613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CD"/>
          </a:solidFill>
          <a:ln xmlns:a="http://schemas.openxmlformats.org/drawingml/2006/main" w="0">
            <a:solidFill>
              <a:srgbClr val="C8D2CD"/>
            </a:solidFill>
            <a:prstDash val="solid"/>
          </a:ln>
        </p:spPr>
      </p:sp>
      <p:sp>
        <p:nvSpPr>
          <p:cNvPr id="4" name="slide-number-5">
            <a:extLst xmlns:a="http://schemas.openxmlformats.org/drawingml/2006/main">
              <a:ext uri="{FF2B5EF4-FFF2-40B4-BE49-F238E27FC236}">
                <a16:creationId xmlns:a16="http://schemas.microsoft.com/office/drawing/2014/main" id="{8FB8C33A-9653-415A-BE4A-CD427DB85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text-48-182">
            <a:extLst xmlns:a="http://schemas.openxmlformats.org/drawingml/2006/main">
              <a:ext uri="{FF2B5EF4-FFF2-40B4-BE49-F238E27FC236}">
                <a16:creationId xmlns:a16="http://schemas.microsoft.com/office/drawing/2014/main" id="{AC5A6A26-B9BC-4443-9608-0B4703517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The current web application combines guided manual planning with a recoverable one-click workflow.</a:t>
            </a:r>
          </a:p>
        </p:txBody>
      </p:sp>
      <p:sp>
        <p:nvSpPr>
          <p:cNvPr id="6" name="rect-48-282">
            <a:extLst xmlns:a="http://schemas.openxmlformats.org/drawingml/2006/main">
              <a:ext uri="{FF2B5EF4-FFF2-40B4-BE49-F238E27FC236}">
                <a16:creationId xmlns:a16="http://schemas.microsoft.com/office/drawing/2014/main" id="{1A8648B4-CB61-4DB0-89EC-5AB0F3518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86050"/>
            <a:ext cx="3429000" cy="2724150"/>
          </a:xfrm>
          <a:prstGeom xmlns:a="http://schemas.openxmlformats.org/drawingml/2006/main" prst="roundRect">
            <a:avLst>
              <a:gd name="adj" fmla="val 4895"/>
            </a:avLst>
          </a:prstGeom>
          <a:solidFill xmlns:a="http://schemas.openxmlformats.org/drawingml/2006/main">
            <a:srgbClr val="0D4A3B"/>
          </a:solidFill>
          <a:ln xmlns:a="http://schemas.openxmlformats.org/drawingml/2006/main" w="9525">
            <a:solidFill>
              <a:srgbClr val="0D4A3B"/>
            </a:solidFill>
            <a:prstDash val="solid"/>
          </a:ln>
        </p:spPr>
      </p:sp>
      <p:sp>
        <p:nvSpPr>
          <p:cNvPr id="7" name="text-76-320">
            <a:extLst xmlns:a="http://schemas.openxmlformats.org/drawingml/2006/main">
              <a:ext uri="{FF2B5EF4-FFF2-40B4-BE49-F238E27FC236}">
                <a16:creationId xmlns:a16="http://schemas.microsoft.com/office/drawing/2014/main" id="{728F5F5C-E6BE-43A1-95FC-6E0C851DB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1524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544"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8" name="text-76-430">
            <a:extLst xmlns:a="http://schemas.openxmlformats.org/drawingml/2006/main">
              <a:ext uri="{FF2B5EF4-FFF2-40B4-BE49-F238E27FC236}">
                <a16:creationId xmlns:a16="http://schemas.microsoft.com/office/drawing/2014/main" id="{E054C1F2-75C7-4B28-9ADC-4C288917D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8E1D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8E1D5"/>
                </a:solidFill>
                <a:latin typeface="Arial"/>
                <a:ea typeface="Arial"/>
                <a:cs typeface="Arial"/>
              </a:rPr>
              <a:t>guided stages</a:t>
            </a:r>
          </a:p>
        </p:txBody>
      </p:sp>
      <p:sp>
        <p:nvSpPr>
          <p:cNvPr id="9" name="text-76-486">
            <a:extLst xmlns:a="http://schemas.openxmlformats.org/drawingml/2006/main">
              <a:ext uri="{FF2B5EF4-FFF2-40B4-BE49-F238E27FC236}">
                <a16:creationId xmlns:a16="http://schemas.microsoft.com/office/drawing/2014/main" id="{33768F0C-9791-4FD5-9455-C52AF026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291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EBE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CEBE4"/>
                </a:solidFill>
                <a:latin typeface="Arial"/>
                <a:ea typeface="Arial"/>
                <a:cs typeface="Arial"/>
              </a:rPr>
              <a:t>Preferences through final summary</a:t>
            </a:r>
          </a:p>
        </p:txBody>
      </p:sp>
      <p:sp>
        <p:nvSpPr>
          <p:cNvPr id="10" name="rect-448-282">
            <a:extLst xmlns:a="http://schemas.openxmlformats.org/drawingml/2006/main">
              <a:ext uri="{FF2B5EF4-FFF2-40B4-BE49-F238E27FC236}">
                <a16:creationId xmlns:a16="http://schemas.microsoft.com/office/drawing/2014/main" id="{403CD709-0390-495B-96B8-6755CED6F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686050"/>
            <a:ext cx="3429000" cy="2724150"/>
          </a:xfrm>
          <a:prstGeom xmlns:a="http://schemas.openxmlformats.org/drawingml/2006/main" prst="roundRect">
            <a:avLst>
              <a:gd name="adj" fmla="val 4895"/>
            </a:avLst>
          </a:prstGeom>
          <a:solidFill xmlns:a="http://schemas.openxmlformats.org/drawingml/2006/main">
            <a:srgbClr val="EEF2EF"/>
          </a:solidFill>
          <a:ln xmlns:a="http://schemas.openxmlformats.org/drawingml/2006/main" w="9525">
            <a:solidFill>
              <a:srgbClr val="C8D2CD"/>
            </a:solidFill>
            <a:prstDash val="solid"/>
          </a:ln>
        </p:spPr>
      </p:sp>
      <p:sp>
        <p:nvSpPr>
          <p:cNvPr id="11" name="text-476-320">
            <a:extLst xmlns:a="http://schemas.openxmlformats.org/drawingml/2006/main">
              <a:ext uri="{FF2B5EF4-FFF2-40B4-BE49-F238E27FC236}">
                <a16:creationId xmlns:a16="http://schemas.microsoft.com/office/drawing/2014/main" id="{411ACBAF-B36D-45BD-AEA7-A2416D10D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48000"/>
            <a:ext cx="1524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544"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2" name="text-476-430">
            <a:extLst xmlns:a="http://schemas.openxmlformats.org/drawingml/2006/main">
              <a:ext uri="{FF2B5EF4-FFF2-40B4-BE49-F238E27FC236}">
                <a16:creationId xmlns:a16="http://schemas.microsoft.com/office/drawing/2014/main" id="{743F540F-91AC-49E8-A5E3-A70FA5FBC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0957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takeaway paths</a:t>
            </a:r>
          </a:p>
        </p:txBody>
      </p:sp>
      <p:sp>
        <p:nvSpPr>
          <p:cNvPr id="13" name="text-476-486">
            <a:extLst xmlns:a="http://schemas.openxmlformats.org/drawingml/2006/main">
              <a:ext uri="{FF2B5EF4-FFF2-40B4-BE49-F238E27FC236}">
                <a16:creationId xmlns:a16="http://schemas.microsoft.com/office/drawing/2014/main" id="{3A01237C-BCF8-4E8D-9A25-E434916B0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6291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Print/PDF, calendar, share, offline HTML</a:t>
            </a:r>
          </a:p>
        </p:txBody>
      </p:sp>
      <p:sp>
        <p:nvSpPr>
          <p:cNvPr id="14" name="rect-848-282">
            <a:extLst xmlns:a="http://schemas.openxmlformats.org/drawingml/2006/main">
              <a:ext uri="{FF2B5EF4-FFF2-40B4-BE49-F238E27FC236}">
                <a16:creationId xmlns:a16="http://schemas.microsoft.com/office/drawing/2014/main" id="{02518373-7D26-471C-B179-AD60547DD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86050"/>
            <a:ext cx="3429000" cy="2724150"/>
          </a:xfrm>
          <a:prstGeom xmlns:a="http://schemas.openxmlformats.org/drawingml/2006/main" prst="roundRect">
            <a:avLst>
              <a:gd name="adj" fmla="val 4895"/>
            </a:avLst>
          </a:prstGeom>
          <a:solidFill xmlns:a="http://schemas.openxmlformats.org/drawingml/2006/main">
            <a:srgbClr val="EEF2EF"/>
          </a:solidFill>
          <a:ln xmlns:a="http://schemas.openxmlformats.org/drawingml/2006/main" w="9525">
            <a:solidFill>
              <a:srgbClr val="C8D2CD"/>
            </a:solidFill>
            <a:prstDash val="solid"/>
          </a:ln>
        </p:spPr>
      </p:sp>
      <p:sp>
        <p:nvSpPr>
          <p:cNvPr id="15" name="text-876-320">
            <a:extLst xmlns:a="http://schemas.openxmlformats.org/drawingml/2006/main">
              <a:ext uri="{FF2B5EF4-FFF2-40B4-BE49-F238E27FC236}">
                <a16:creationId xmlns:a16="http://schemas.microsoft.com/office/drawing/2014/main" id="{B2B4D819-9B0F-45B1-854C-C80BE50E0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48000"/>
            <a:ext cx="1524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544"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text-876-430">
            <a:extLst xmlns:a="http://schemas.openxmlformats.org/drawingml/2006/main">
              <a:ext uri="{FF2B5EF4-FFF2-40B4-BE49-F238E27FC236}">
                <a16:creationId xmlns:a16="http://schemas.microsoft.com/office/drawing/2014/main" id="{F01FD834-4AE7-4190-8ADB-BB9347D79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957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collaboration roles</a:t>
            </a:r>
          </a:p>
        </p:txBody>
      </p:sp>
      <p:sp>
        <p:nvSpPr>
          <p:cNvPr id="17" name="text-876-486">
            <a:extLst xmlns:a="http://schemas.openxmlformats.org/drawingml/2006/main">
              <a:ext uri="{FF2B5EF4-FFF2-40B4-BE49-F238E27FC236}">
                <a16:creationId xmlns:a16="http://schemas.microsoft.com/office/drawing/2014/main" id="{1837A618-D05A-4FA8-BA7C-F807B6DF1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6291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Viewer and editor access</a:t>
            </a:r>
          </a:p>
        </p:txBody>
      </p:sp>
      <p:sp>
        <p:nvSpPr>
          <p:cNvPr id="18" name="text-70-603">
            <a:extLst xmlns:a="http://schemas.openxmlformats.org/drawingml/2006/main">
              <a:ext uri="{FF2B5EF4-FFF2-40B4-BE49-F238E27FC236}">
                <a16:creationId xmlns:a16="http://schemas.microsoft.com/office/drawing/2014/main" id="{EB5F3FBD-48A7-40D1-B475-BAD9A53E0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259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Also implemented: background-job progress, cancel/retry, checkpoints, provider caching, quota controls, security headers, and responsive PWA metadata.</a:t>
            </a:r>
          </a:p>
        </p:txBody>
      </p:sp>
    </p:spTree>
    <p:extLst>
      <p:ext uri="{BB962C8B-B14F-4D97-AF65-F5344CB8AC3E}">
        <p14:creationId xmlns:p14="http://schemas.microsoft.com/office/powerpoint/2010/main" val="2414438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section-6">
            <a:extLst xmlns:a="http://schemas.openxmlformats.org/drawingml/2006/main">
              <a:ext uri="{FF2B5EF4-FFF2-40B4-BE49-F238E27FC236}">
                <a16:creationId xmlns:a16="http://schemas.microsoft.com/office/drawing/2014/main" id="{8FC62C53-8A29-4ED3-952C-39E55681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6B3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96B32"/>
                </a:solidFill>
                <a:latin typeface="Arial"/>
                <a:ea typeface="Arial"/>
                <a:cs typeface="Arial"/>
              </a:rPr>
              <a:t>DIFFERENTIATION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3E7CC1A8-A918-4092-AD8C-6F78F5C9F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2204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The advantage is continuity across the whole journey.</a:t>
            </a:r>
          </a:p>
        </p:txBody>
      </p:sp>
      <p:sp>
        <p:nvSpPr>
          <p:cNvPr id="3" name="rule-152">
            <a:extLst xmlns:a="http://schemas.openxmlformats.org/drawingml/2006/main">
              <a:ext uri="{FF2B5EF4-FFF2-40B4-BE49-F238E27FC236}">
                <a16:creationId xmlns:a16="http://schemas.microsoft.com/office/drawing/2014/main" id="{53C89F24-D5DF-4E78-ADD4-5DC700430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CD"/>
          </a:solidFill>
          <a:ln xmlns:a="http://schemas.openxmlformats.org/drawingml/2006/main" w="0">
            <a:solidFill>
              <a:srgbClr val="C8D2CD"/>
            </a:solidFill>
            <a:prstDash val="solid"/>
          </a:ln>
        </p:spPr>
      </p:sp>
      <p:sp>
        <p:nvSpPr>
          <p:cNvPr id="4" name="slide-number-6">
            <a:extLst xmlns:a="http://schemas.openxmlformats.org/drawingml/2006/main">
              <a:ext uri="{FF2B5EF4-FFF2-40B4-BE49-F238E27FC236}">
                <a16:creationId xmlns:a16="http://schemas.microsoft.com/office/drawing/2014/main" id="{3B7F1688-A178-4211-8A54-B2DF9D846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text-48-180">
            <a:extLst xmlns:a="http://schemas.openxmlformats.org/drawingml/2006/main">
              <a:ext uri="{FF2B5EF4-FFF2-40B4-BE49-F238E27FC236}">
                <a16:creationId xmlns:a16="http://schemas.microsoft.com/office/drawing/2014/main" id="{7CEAC859-A7EE-499D-A856-A17C90942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Instead of adding another discovery screen, Magic Trip Planner keeps the same decisions connected and editable.</a:t>
            </a:r>
          </a:p>
        </p:txBody>
      </p:sp>
      <p:sp>
        <p:nvSpPr>
          <p:cNvPr id="6" name="rect-48-258">
            <a:extLst xmlns:a="http://schemas.openxmlformats.org/drawingml/2006/main">
              <a:ext uri="{FF2B5EF4-FFF2-40B4-BE49-F238E27FC236}">
                <a16:creationId xmlns:a16="http://schemas.microsoft.com/office/drawing/2014/main" id="{645A6A08-5134-4FA1-99F2-34178220B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323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F"/>
          </a:solidFill>
          <a:ln xmlns:a="http://schemas.openxmlformats.org/drawingml/2006/main" w="9525">
            <a:solidFill>
              <a:srgbClr val="C8D2CD"/>
            </a:solidFill>
            <a:prstDash val="solid"/>
          </a:ln>
        </p:spPr>
      </p:sp>
      <p:sp>
        <p:nvSpPr>
          <p:cNvPr id="7" name="text-64-275">
            <a:extLst xmlns:a="http://schemas.openxmlformats.org/drawingml/2006/main">
              <a:ext uri="{FF2B5EF4-FFF2-40B4-BE49-F238E27FC236}">
                <a16:creationId xmlns:a16="http://schemas.microsoft.com/office/drawing/2014/main" id="{CDDF1BCC-0309-41E6-A7D9-82BCB2BED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CAPABILITY</a:t>
            </a:r>
          </a:p>
        </p:txBody>
      </p:sp>
      <p:sp>
        <p:nvSpPr>
          <p:cNvPr id="8" name="rect-388-258">
            <a:extLst xmlns:a="http://schemas.openxmlformats.org/drawingml/2006/main">
              <a:ext uri="{FF2B5EF4-FFF2-40B4-BE49-F238E27FC236}">
                <a16:creationId xmlns:a16="http://schemas.microsoft.com/office/drawing/2014/main" id="{2177E17A-B4C8-40F9-AEBC-5FA154D37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4574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F"/>
          </a:solidFill>
          <a:ln xmlns:a="http://schemas.openxmlformats.org/drawingml/2006/main" w="9525">
            <a:solidFill>
              <a:srgbClr val="C8D2CD"/>
            </a:solidFill>
            <a:prstDash val="solid"/>
          </a:ln>
        </p:spPr>
      </p:sp>
      <p:sp>
        <p:nvSpPr>
          <p:cNvPr id="9" name="text-404-275">
            <a:extLst xmlns:a="http://schemas.openxmlformats.org/drawingml/2006/main">
              <a:ext uri="{FF2B5EF4-FFF2-40B4-BE49-F238E27FC236}">
                <a16:creationId xmlns:a16="http://schemas.microsoft.com/office/drawing/2014/main" id="{262BE3E1-3967-49E4-84BA-E88C0EB29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619375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MANUAL TABS</a:t>
            </a:r>
          </a:p>
        </p:txBody>
      </p:sp>
      <p:sp>
        <p:nvSpPr>
          <p:cNvPr id="10" name="rect-638-258">
            <a:extLst xmlns:a="http://schemas.openxmlformats.org/drawingml/2006/main">
              <a:ext uri="{FF2B5EF4-FFF2-40B4-BE49-F238E27FC236}">
                <a16:creationId xmlns:a16="http://schemas.microsoft.com/office/drawing/2014/main" id="{5E7ED607-51AA-4435-B771-AAB573477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4574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F"/>
          </a:solidFill>
          <a:ln xmlns:a="http://schemas.openxmlformats.org/drawingml/2006/main" w="9525">
            <a:solidFill>
              <a:srgbClr val="C8D2CD"/>
            </a:solidFill>
            <a:prstDash val="solid"/>
          </a:ln>
        </p:spPr>
      </p:sp>
      <p:sp>
        <p:nvSpPr>
          <p:cNvPr id="11" name="text-654-275">
            <a:extLst xmlns:a="http://schemas.openxmlformats.org/drawingml/2006/main">
              <a:ext uri="{FF2B5EF4-FFF2-40B4-BE49-F238E27FC236}">
                <a16:creationId xmlns:a16="http://schemas.microsoft.com/office/drawing/2014/main" id="{9E898843-A5DF-4DDB-9AB5-A3EB2C857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619375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GENERIC AI CHAT</a:t>
            </a:r>
          </a:p>
        </p:txBody>
      </p:sp>
      <p:sp>
        <p:nvSpPr>
          <p:cNvPr id="12" name="rect-888-258">
            <a:extLst xmlns:a="http://schemas.openxmlformats.org/drawingml/2006/main">
              <a:ext uri="{FF2B5EF4-FFF2-40B4-BE49-F238E27FC236}">
                <a16:creationId xmlns:a16="http://schemas.microsoft.com/office/drawing/2014/main" id="{997FB5D3-C9A8-48D3-83D5-EB395A9E1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57450"/>
            <a:ext cx="3276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A3B"/>
          </a:solidFill>
          <a:ln xmlns:a="http://schemas.openxmlformats.org/drawingml/2006/main" w="9525">
            <a:solidFill>
              <a:srgbClr val="C8D2CD"/>
            </a:solidFill>
            <a:prstDash val="solid"/>
          </a:ln>
        </p:spPr>
      </p:sp>
      <p:sp>
        <p:nvSpPr>
          <p:cNvPr id="13" name="text-904-275">
            <a:extLst xmlns:a="http://schemas.openxmlformats.org/drawingml/2006/main">
              <a:ext uri="{FF2B5EF4-FFF2-40B4-BE49-F238E27FC236}">
                <a16:creationId xmlns:a16="http://schemas.microsoft.com/office/drawing/2014/main" id="{FE32E2A7-155F-4B95-9EAE-3E7A3D946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19375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MAGIC TRIP PLANNER</a:t>
            </a:r>
          </a:p>
        </p:txBody>
      </p:sp>
      <p:sp>
        <p:nvSpPr>
          <p:cNvPr id="14" name="rect-48-316">
            <a:extLst xmlns:a="http://schemas.openxmlformats.org/drawingml/2006/main">
              <a:ext uri="{FF2B5EF4-FFF2-40B4-BE49-F238E27FC236}">
                <a16:creationId xmlns:a16="http://schemas.microsoft.com/office/drawing/2014/main" id="{78BDB7B1-4C89-4241-852D-6A0275227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9900"/>
            <a:ext cx="32385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CD"/>
            </a:solidFill>
            <a:prstDash val="solid"/>
          </a:ln>
        </p:spPr>
      </p:sp>
      <p:sp>
        <p:nvSpPr>
          <p:cNvPr id="15" name="text-62-335">
            <a:extLst xmlns:a="http://schemas.openxmlformats.org/drawingml/2006/main">
              <a:ext uri="{FF2B5EF4-FFF2-40B4-BE49-F238E27FC236}">
                <a16:creationId xmlns:a16="http://schemas.microsoft.com/office/drawing/2014/main" id="{0B8F5D91-E85E-4CBF-9154-EB33E9837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90875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1766F"/>
                </a:solidFill>
                <a:latin typeface="Arial"/>
                <a:ea typeface="Arial"/>
                <a:cs typeface="Arial"/>
              </a:rPr>
              <a:t>Sri Lanka-specific context</a:t>
            </a:r>
          </a:p>
        </p:txBody>
      </p:sp>
      <p:sp>
        <p:nvSpPr>
          <p:cNvPr id="16" name="rect-388-316">
            <a:extLst xmlns:a="http://schemas.openxmlformats.org/drawingml/2006/main">
              <a:ext uri="{FF2B5EF4-FFF2-40B4-BE49-F238E27FC236}">
                <a16:creationId xmlns:a16="http://schemas.microsoft.com/office/drawing/2014/main" id="{9FA35DCC-39A1-4652-831B-3E99598C0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009900"/>
            <a:ext cx="23812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CD"/>
            </a:solidFill>
            <a:prstDash val="solid"/>
          </a:ln>
        </p:spPr>
      </p:sp>
      <p:sp>
        <p:nvSpPr>
          <p:cNvPr id="17" name="text-402-335">
            <a:extLst xmlns:a="http://schemas.openxmlformats.org/drawingml/2006/main">
              <a:ext uri="{FF2B5EF4-FFF2-40B4-BE49-F238E27FC236}">
                <a16:creationId xmlns:a16="http://schemas.microsoft.com/office/drawing/2014/main" id="{A7790ED5-EBCC-4425-BD47-8EE13F4A4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190875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User assembles</a:t>
            </a:r>
          </a:p>
        </p:txBody>
      </p:sp>
      <p:sp>
        <p:nvSpPr>
          <p:cNvPr id="18" name="rect-638-316">
            <a:extLst xmlns:a="http://schemas.openxmlformats.org/drawingml/2006/main">
              <a:ext uri="{FF2B5EF4-FFF2-40B4-BE49-F238E27FC236}">
                <a16:creationId xmlns:a16="http://schemas.microsoft.com/office/drawing/2014/main" id="{CCB9CF0A-4824-472B-8303-0B49A668E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09900"/>
            <a:ext cx="23812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CD"/>
            </a:solidFill>
            <a:prstDash val="solid"/>
          </a:ln>
        </p:spPr>
      </p:sp>
      <p:sp>
        <p:nvSpPr>
          <p:cNvPr id="19" name="text-652-335">
            <a:extLst xmlns:a="http://schemas.openxmlformats.org/drawingml/2006/main">
              <a:ext uri="{FF2B5EF4-FFF2-40B4-BE49-F238E27FC236}">
                <a16:creationId xmlns:a16="http://schemas.microsoft.com/office/drawing/2014/main" id="{AC327FC7-1DA1-407D-8B6E-E59BE07BE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90875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Prompt dependent</a:t>
            </a:r>
          </a:p>
        </p:txBody>
      </p:sp>
      <p:sp>
        <p:nvSpPr>
          <p:cNvPr id="20" name="rect-888-316">
            <a:extLst xmlns:a="http://schemas.openxmlformats.org/drawingml/2006/main">
              <a:ext uri="{FF2B5EF4-FFF2-40B4-BE49-F238E27FC236}">
                <a16:creationId xmlns:a16="http://schemas.microsoft.com/office/drawing/2014/main" id="{9A98C60F-B339-4365-9F45-C9874FD6F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09900"/>
            <a:ext cx="32766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4"/>
          </a:solidFill>
          <a:ln xmlns:a="http://schemas.openxmlformats.org/drawingml/2006/main" w="9525">
            <a:solidFill>
              <a:srgbClr val="C8D2CD"/>
            </a:solidFill>
            <a:prstDash val="solid"/>
          </a:ln>
        </p:spPr>
      </p:sp>
      <p:sp>
        <p:nvSpPr>
          <p:cNvPr id="21" name="text-902-335">
            <a:extLst xmlns:a="http://schemas.openxmlformats.org/drawingml/2006/main">
              <a:ext uri="{FF2B5EF4-FFF2-40B4-BE49-F238E27FC236}">
                <a16:creationId xmlns:a16="http://schemas.microsoft.com/office/drawing/2014/main" id="{99D8947A-CA8F-4C82-A7F0-4D66C13E2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90875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Built in</a:t>
            </a:r>
          </a:p>
        </p:txBody>
      </p:sp>
      <p:sp>
        <p:nvSpPr>
          <p:cNvPr id="22" name="rect-48-383">
            <a:extLst xmlns:a="http://schemas.openxmlformats.org/drawingml/2006/main">
              <a:ext uri="{FF2B5EF4-FFF2-40B4-BE49-F238E27FC236}">
                <a16:creationId xmlns:a16="http://schemas.microsoft.com/office/drawing/2014/main" id="{A0889994-27DC-48BE-B5C0-46F96380A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48075"/>
            <a:ext cx="32385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CD"/>
            </a:solidFill>
            <a:prstDash val="solid"/>
          </a:ln>
        </p:spPr>
      </p:sp>
      <p:sp>
        <p:nvSpPr>
          <p:cNvPr id="23" name="text-62-402">
            <a:extLst xmlns:a="http://schemas.openxmlformats.org/drawingml/2006/main">
              <a:ext uri="{FF2B5EF4-FFF2-40B4-BE49-F238E27FC236}">
                <a16:creationId xmlns:a16="http://schemas.microsoft.com/office/drawing/2014/main" id="{ADDCAAC7-FAAC-4318-B7C3-7545137E3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2905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1766F"/>
                </a:solidFill>
                <a:latin typeface="Arial"/>
                <a:ea typeface="Arial"/>
                <a:cs typeface="Arial"/>
              </a:rPr>
              <a:t>Map-verified places</a:t>
            </a:r>
          </a:p>
        </p:txBody>
      </p:sp>
      <p:sp>
        <p:nvSpPr>
          <p:cNvPr id="24" name="rect-388-383">
            <a:extLst xmlns:a="http://schemas.openxmlformats.org/drawingml/2006/main">
              <a:ext uri="{FF2B5EF4-FFF2-40B4-BE49-F238E27FC236}">
                <a16:creationId xmlns:a16="http://schemas.microsoft.com/office/drawing/2014/main" id="{91BB0833-C23E-4A20-8607-FEE2D1C77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648075"/>
            <a:ext cx="23812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CD"/>
            </a:solidFill>
            <a:prstDash val="solid"/>
          </a:ln>
        </p:spPr>
      </p:sp>
      <p:sp>
        <p:nvSpPr>
          <p:cNvPr id="25" name="text-402-402">
            <a:extLst xmlns:a="http://schemas.openxmlformats.org/drawingml/2006/main">
              <a:ext uri="{FF2B5EF4-FFF2-40B4-BE49-F238E27FC236}">
                <a16:creationId xmlns:a16="http://schemas.microsoft.com/office/drawing/2014/main" id="{E2141973-3F14-4B8C-96E1-7DDC23DD3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82905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Manual checks</a:t>
            </a:r>
          </a:p>
        </p:txBody>
      </p:sp>
      <p:sp>
        <p:nvSpPr>
          <p:cNvPr id="26" name="rect-638-383">
            <a:extLst xmlns:a="http://schemas.openxmlformats.org/drawingml/2006/main">
              <a:ext uri="{FF2B5EF4-FFF2-40B4-BE49-F238E27FC236}">
                <a16:creationId xmlns:a16="http://schemas.microsoft.com/office/drawing/2014/main" id="{E880672B-D906-4957-A817-3084CB494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648075"/>
            <a:ext cx="23812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CD"/>
            </a:solidFill>
            <a:prstDash val="solid"/>
          </a:ln>
        </p:spPr>
      </p:sp>
      <p:sp>
        <p:nvSpPr>
          <p:cNvPr id="27" name="text-652-402">
            <a:extLst xmlns:a="http://schemas.openxmlformats.org/drawingml/2006/main">
              <a:ext uri="{FF2B5EF4-FFF2-40B4-BE49-F238E27FC236}">
                <a16:creationId xmlns:a16="http://schemas.microsoft.com/office/drawing/2014/main" id="{2DEBFA1F-A532-412C-A769-06B81C1EB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2905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Not guaranteed</a:t>
            </a:r>
          </a:p>
        </p:txBody>
      </p:sp>
      <p:sp>
        <p:nvSpPr>
          <p:cNvPr id="28" name="rect-888-383">
            <a:extLst xmlns:a="http://schemas.openxmlformats.org/drawingml/2006/main">
              <a:ext uri="{FF2B5EF4-FFF2-40B4-BE49-F238E27FC236}">
                <a16:creationId xmlns:a16="http://schemas.microsoft.com/office/drawing/2014/main" id="{A3315FF9-6B18-4824-A090-375AD02C0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48075"/>
            <a:ext cx="32766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4"/>
          </a:solidFill>
          <a:ln xmlns:a="http://schemas.openxmlformats.org/drawingml/2006/main" w="9525">
            <a:solidFill>
              <a:srgbClr val="C8D2CD"/>
            </a:solidFill>
            <a:prstDash val="solid"/>
          </a:ln>
        </p:spPr>
      </p:sp>
      <p:sp>
        <p:nvSpPr>
          <p:cNvPr id="29" name="text-902-402">
            <a:extLst xmlns:a="http://schemas.openxmlformats.org/drawingml/2006/main">
              <a:ext uri="{FF2B5EF4-FFF2-40B4-BE49-F238E27FC236}">
                <a16:creationId xmlns:a16="http://schemas.microsoft.com/office/drawing/2014/main" id="{1911DD06-58F4-4621-B090-59BA63558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82905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Coordinate-backed</a:t>
            </a:r>
          </a:p>
        </p:txBody>
      </p:sp>
      <p:sp>
        <p:nvSpPr>
          <p:cNvPr id="30" name="rect-48-450">
            <a:extLst xmlns:a="http://schemas.openxmlformats.org/drawingml/2006/main">
              <a:ext uri="{FF2B5EF4-FFF2-40B4-BE49-F238E27FC236}">
                <a16:creationId xmlns:a16="http://schemas.microsoft.com/office/drawing/2014/main" id="{9FB6BACA-FF54-44C7-9253-64062592F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0"/>
            <a:ext cx="32385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CD"/>
            </a:solidFill>
            <a:prstDash val="solid"/>
          </a:ln>
        </p:spPr>
      </p:sp>
      <p:sp>
        <p:nvSpPr>
          <p:cNvPr id="31" name="text-62-469">
            <a:extLst xmlns:a="http://schemas.openxmlformats.org/drawingml/2006/main">
              <a:ext uri="{FF2B5EF4-FFF2-40B4-BE49-F238E27FC236}">
                <a16:creationId xmlns:a16="http://schemas.microsoft.com/office/drawing/2014/main" id="{E3B48395-706E-4D5C-969F-04449BC8F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67225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1766F"/>
                </a:solidFill>
                <a:latin typeface="Arial"/>
                <a:ea typeface="Arial"/>
                <a:cs typeface="Arial"/>
              </a:rPr>
              <a:t>Daily route + overnight stays</a:t>
            </a:r>
          </a:p>
        </p:txBody>
      </p:sp>
      <p:sp>
        <p:nvSpPr>
          <p:cNvPr id="32" name="rect-388-450">
            <a:extLst xmlns:a="http://schemas.openxmlformats.org/drawingml/2006/main">
              <a:ext uri="{FF2B5EF4-FFF2-40B4-BE49-F238E27FC236}">
                <a16:creationId xmlns:a16="http://schemas.microsoft.com/office/drawing/2014/main" id="{E7E380CC-1D3A-4634-A365-3028E4D94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286250"/>
            <a:ext cx="23812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CD"/>
            </a:solidFill>
            <a:prstDash val="solid"/>
          </a:ln>
        </p:spPr>
      </p:sp>
      <p:sp>
        <p:nvSpPr>
          <p:cNvPr id="33" name="text-402-469">
            <a:extLst xmlns:a="http://schemas.openxmlformats.org/drawingml/2006/main">
              <a:ext uri="{FF2B5EF4-FFF2-40B4-BE49-F238E27FC236}">
                <a16:creationId xmlns:a16="http://schemas.microsoft.com/office/drawing/2014/main" id="{013741E1-5147-43EA-8FB4-A2EFA3003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467225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Separate tools</a:t>
            </a:r>
          </a:p>
        </p:txBody>
      </p:sp>
      <p:sp>
        <p:nvSpPr>
          <p:cNvPr id="34" name="rect-638-450">
            <a:extLst xmlns:a="http://schemas.openxmlformats.org/drawingml/2006/main">
              <a:ext uri="{FF2B5EF4-FFF2-40B4-BE49-F238E27FC236}">
                <a16:creationId xmlns:a16="http://schemas.microsoft.com/office/drawing/2014/main" id="{1A4B8537-9D78-4930-929D-4EA699970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286250"/>
            <a:ext cx="23812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CD"/>
            </a:solidFill>
            <a:prstDash val="solid"/>
          </a:ln>
        </p:spPr>
      </p:sp>
      <p:sp>
        <p:nvSpPr>
          <p:cNvPr id="35" name="text-652-469">
            <a:extLst xmlns:a="http://schemas.openxmlformats.org/drawingml/2006/main">
              <a:ext uri="{FF2B5EF4-FFF2-40B4-BE49-F238E27FC236}">
                <a16:creationId xmlns:a16="http://schemas.microsoft.com/office/drawing/2014/main" id="{24FE6F87-22A2-4B2F-81BC-27E9C8D4F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67225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Text suggestion</a:t>
            </a:r>
          </a:p>
        </p:txBody>
      </p:sp>
      <p:sp>
        <p:nvSpPr>
          <p:cNvPr id="36" name="rect-888-450">
            <a:extLst xmlns:a="http://schemas.openxmlformats.org/drawingml/2006/main">
              <a:ext uri="{FF2B5EF4-FFF2-40B4-BE49-F238E27FC236}">
                <a16:creationId xmlns:a16="http://schemas.microsoft.com/office/drawing/2014/main" id="{FCE83760-F946-4AB3-B617-D9EBDCF6A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286250"/>
            <a:ext cx="32766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4"/>
          </a:solidFill>
          <a:ln xmlns:a="http://schemas.openxmlformats.org/drawingml/2006/main" w="9525">
            <a:solidFill>
              <a:srgbClr val="C8D2CD"/>
            </a:solidFill>
            <a:prstDash val="solid"/>
          </a:ln>
        </p:spPr>
      </p:sp>
      <p:sp>
        <p:nvSpPr>
          <p:cNvPr id="37" name="text-902-469">
            <a:extLst xmlns:a="http://schemas.openxmlformats.org/drawingml/2006/main">
              <a:ext uri="{FF2B5EF4-FFF2-40B4-BE49-F238E27FC236}">
                <a16:creationId xmlns:a16="http://schemas.microsoft.com/office/drawing/2014/main" id="{4BB56DBA-47FC-4A7E-A32D-9ACF23D16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67225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Connected workflow</a:t>
            </a:r>
          </a:p>
        </p:txBody>
      </p:sp>
      <p:sp>
        <p:nvSpPr>
          <p:cNvPr id="38" name="rect-48-517">
            <a:extLst xmlns:a="http://schemas.openxmlformats.org/drawingml/2006/main">
              <a:ext uri="{FF2B5EF4-FFF2-40B4-BE49-F238E27FC236}">
                <a16:creationId xmlns:a16="http://schemas.microsoft.com/office/drawing/2014/main" id="{36552A07-25F7-42BC-882B-5D35D6CCE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24425"/>
            <a:ext cx="32385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CD"/>
            </a:solidFill>
            <a:prstDash val="solid"/>
          </a:ln>
        </p:spPr>
      </p:sp>
      <p:sp>
        <p:nvSpPr>
          <p:cNvPr id="39" name="text-62-536">
            <a:extLst xmlns:a="http://schemas.openxmlformats.org/drawingml/2006/main">
              <a:ext uri="{FF2B5EF4-FFF2-40B4-BE49-F238E27FC236}">
                <a16:creationId xmlns:a16="http://schemas.microsoft.com/office/drawing/2014/main" id="{D620ED23-206C-431E-87F6-0D9C1569B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0540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1766F"/>
                </a:solidFill>
                <a:latin typeface="Arial"/>
                <a:ea typeface="Arial"/>
                <a:cs typeface="Arial"/>
              </a:rPr>
              <a:t>LKR budget by saved route</a:t>
            </a:r>
          </a:p>
        </p:txBody>
      </p:sp>
      <p:sp>
        <p:nvSpPr>
          <p:cNvPr id="40" name="rect-388-517">
            <a:extLst xmlns:a="http://schemas.openxmlformats.org/drawingml/2006/main">
              <a:ext uri="{FF2B5EF4-FFF2-40B4-BE49-F238E27FC236}">
                <a16:creationId xmlns:a16="http://schemas.microsoft.com/office/drawing/2014/main" id="{65A7CD78-903B-42D3-BF62-0E1C76D2E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924425"/>
            <a:ext cx="23812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CD"/>
            </a:solidFill>
            <a:prstDash val="solid"/>
          </a:ln>
        </p:spPr>
      </p:sp>
      <p:sp>
        <p:nvSpPr>
          <p:cNvPr id="41" name="text-402-536">
            <a:extLst xmlns:a="http://schemas.openxmlformats.org/drawingml/2006/main">
              <a:ext uri="{FF2B5EF4-FFF2-40B4-BE49-F238E27FC236}">
                <a16:creationId xmlns:a16="http://schemas.microsoft.com/office/drawing/2014/main" id="{2C360D5E-8A44-42D3-881A-AF105ECA2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10540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Manual estimate</a:t>
            </a:r>
          </a:p>
        </p:txBody>
      </p:sp>
      <p:sp>
        <p:nvSpPr>
          <p:cNvPr id="42" name="rect-638-517">
            <a:extLst xmlns:a="http://schemas.openxmlformats.org/drawingml/2006/main">
              <a:ext uri="{FF2B5EF4-FFF2-40B4-BE49-F238E27FC236}">
                <a16:creationId xmlns:a16="http://schemas.microsoft.com/office/drawing/2014/main" id="{A4BC6876-67C4-40C3-85A3-B342339EE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924425"/>
            <a:ext cx="23812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CD"/>
            </a:solidFill>
            <a:prstDash val="solid"/>
          </a:ln>
        </p:spPr>
      </p:sp>
      <p:sp>
        <p:nvSpPr>
          <p:cNvPr id="43" name="text-652-536">
            <a:extLst xmlns:a="http://schemas.openxmlformats.org/drawingml/2006/main">
              <a:ext uri="{FF2B5EF4-FFF2-40B4-BE49-F238E27FC236}">
                <a16:creationId xmlns:a16="http://schemas.microsoft.com/office/drawing/2014/main" id="{30B6D815-7724-4228-8785-06D4B443B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10540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Generic estimate</a:t>
            </a:r>
          </a:p>
        </p:txBody>
      </p:sp>
      <p:sp>
        <p:nvSpPr>
          <p:cNvPr id="44" name="rect-888-517">
            <a:extLst xmlns:a="http://schemas.openxmlformats.org/drawingml/2006/main">
              <a:ext uri="{FF2B5EF4-FFF2-40B4-BE49-F238E27FC236}">
                <a16:creationId xmlns:a16="http://schemas.microsoft.com/office/drawing/2014/main" id="{3940FAD8-4981-4960-922A-9B23C5941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924425"/>
            <a:ext cx="32766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4"/>
          </a:solidFill>
          <a:ln xmlns:a="http://schemas.openxmlformats.org/drawingml/2006/main" w="9525">
            <a:solidFill>
              <a:srgbClr val="C8D2CD"/>
            </a:solidFill>
            <a:prstDash val="solid"/>
          </a:ln>
        </p:spPr>
      </p:sp>
      <p:sp>
        <p:nvSpPr>
          <p:cNvPr id="45" name="text-902-536">
            <a:extLst xmlns:a="http://schemas.openxmlformats.org/drawingml/2006/main">
              <a:ext uri="{FF2B5EF4-FFF2-40B4-BE49-F238E27FC236}">
                <a16:creationId xmlns:a16="http://schemas.microsoft.com/office/drawing/2014/main" id="{C6410995-61CE-4A2B-88D1-0F04AD7D3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10540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Deterministic pricing</a:t>
            </a:r>
          </a:p>
        </p:txBody>
      </p:sp>
      <p:sp>
        <p:nvSpPr>
          <p:cNvPr id="46" name="rect-48-584">
            <a:extLst xmlns:a="http://schemas.openxmlformats.org/drawingml/2006/main">
              <a:ext uri="{FF2B5EF4-FFF2-40B4-BE49-F238E27FC236}">
                <a16:creationId xmlns:a16="http://schemas.microsoft.com/office/drawing/2014/main" id="{718B44E0-78E4-42D9-A56D-F1CCA2EC0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62600"/>
            <a:ext cx="32385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CD"/>
            </a:solidFill>
            <a:prstDash val="solid"/>
          </a:ln>
        </p:spPr>
      </p:sp>
      <p:sp>
        <p:nvSpPr>
          <p:cNvPr id="47" name="text-62-603">
            <a:extLst xmlns:a="http://schemas.openxmlformats.org/drawingml/2006/main">
              <a:ext uri="{FF2B5EF4-FFF2-40B4-BE49-F238E27FC236}">
                <a16:creationId xmlns:a16="http://schemas.microsoft.com/office/drawing/2014/main" id="{47665299-474C-4B87-847D-3AECDBBDB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43575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1766F"/>
                </a:solidFill>
                <a:latin typeface="Arial"/>
                <a:ea typeface="Arial"/>
                <a:cs typeface="Arial"/>
              </a:rPr>
              <a:t>Persistent, restorable plan</a:t>
            </a:r>
          </a:p>
        </p:txBody>
      </p:sp>
      <p:sp>
        <p:nvSpPr>
          <p:cNvPr id="48" name="rect-388-584">
            <a:extLst xmlns:a="http://schemas.openxmlformats.org/drawingml/2006/main">
              <a:ext uri="{FF2B5EF4-FFF2-40B4-BE49-F238E27FC236}">
                <a16:creationId xmlns:a16="http://schemas.microsoft.com/office/drawing/2014/main" id="{2E4AC97D-10EA-483D-8993-4A8DFA6E9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562600"/>
            <a:ext cx="23812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CD"/>
            </a:solidFill>
            <a:prstDash val="solid"/>
          </a:ln>
        </p:spPr>
      </p:sp>
      <p:sp>
        <p:nvSpPr>
          <p:cNvPr id="49" name="text-402-603">
            <a:extLst xmlns:a="http://schemas.openxmlformats.org/drawingml/2006/main">
              <a:ext uri="{FF2B5EF4-FFF2-40B4-BE49-F238E27FC236}">
                <a16:creationId xmlns:a16="http://schemas.microsoft.com/office/drawing/2014/main" id="{EDBF7111-1BED-4450-BBB5-07EABF60B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743575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Scattered links</a:t>
            </a:r>
          </a:p>
        </p:txBody>
      </p:sp>
      <p:sp>
        <p:nvSpPr>
          <p:cNvPr id="50" name="rect-638-584">
            <a:extLst xmlns:a="http://schemas.openxmlformats.org/drawingml/2006/main">
              <a:ext uri="{FF2B5EF4-FFF2-40B4-BE49-F238E27FC236}">
                <a16:creationId xmlns:a16="http://schemas.microsoft.com/office/drawing/2014/main" id="{E2398299-7687-4748-AF1A-BDB47FD86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562600"/>
            <a:ext cx="23812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CD"/>
            </a:solidFill>
            <a:prstDash val="solid"/>
          </a:ln>
        </p:spPr>
      </p:sp>
      <p:sp>
        <p:nvSpPr>
          <p:cNvPr id="51" name="text-652-603">
            <a:extLst xmlns:a="http://schemas.openxmlformats.org/drawingml/2006/main">
              <a:ext uri="{FF2B5EF4-FFF2-40B4-BE49-F238E27FC236}">
                <a16:creationId xmlns:a16="http://schemas.microsoft.com/office/drawing/2014/main" id="{06697A95-060E-4F61-A838-DCEA51B87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743575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Conversation only</a:t>
            </a:r>
          </a:p>
        </p:txBody>
      </p:sp>
      <p:sp>
        <p:nvSpPr>
          <p:cNvPr id="52" name="rect-888-584">
            <a:extLst xmlns:a="http://schemas.openxmlformats.org/drawingml/2006/main">
              <a:ext uri="{FF2B5EF4-FFF2-40B4-BE49-F238E27FC236}">
                <a16:creationId xmlns:a16="http://schemas.microsoft.com/office/drawing/2014/main" id="{E61CA280-2FC6-4B61-8FC3-FC648DEEA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562600"/>
            <a:ext cx="32766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4"/>
          </a:solidFill>
          <a:ln xmlns:a="http://schemas.openxmlformats.org/drawingml/2006/main" w="9525">
            <a:solidFill>
              <a:srgbClr val="C8D2CD"/>
            </a:solidFill>
            <a:prstDash val="solid"/>
          </a:ln>
        </p:spPr>
      </p:sp>
      <p:sp>
        <p:nvSpPr>
          <p:cNvPr id="53" name="text-902-603">
            <a:extLst xmlns:a="http://schemas.openxmlformats.org/drawingml/2006/main">
              <a:ext uri="{FF2B5EF4-FFF2-40B4-BE49-F238E27FC236}">
                <a16:creationId xmlns:a16="http://schemas.microsoft.com/office/drawing/2014/main" id="{18C99E1A-048C-4310-BCCE-EEA6AFF9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743575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Jobs + versions</a:t>
            </a:r>
          </a:p>
        </p:txBody>
      </p:sp>
    </p:spTree>
    <p:extLst>
      <p:ext uri="{BB962C8B-B14F-4D97-AF65-F5344CB8AC3E}">
        <p14:creationId xmlns:p14="http://schemas.microsoft.com/office/powerpoint/2010/main" val="7354394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48-28">
            <a:extLst xmlns:a="http://schemas.openxmlformats.org/drawingml/2006/main">
              <a:ext uri="{FF2B5EF4-FFF2-40B4-BE49-F238E27FC236}">
                <a16:creationId xmlns:a16="http://schemas.microsoft.com/office/drawing/2014/main" id="{421CA9F4-CAF6-4CB9-808E-00AFED6EC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6B3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96B32"/>
                </a:solidFill>
                <a:latin typeface="Arial"/>
                <a:ea typeface="Arial"/>
                <a:cs typeface="Arial"/>
              </a:rPr>
              <a:t>MARKET FEASIBILITY</a:t>
            </a:r>
          </a:p>
        </p:txBody>
      </p:sp>
      <p:sp>
        <p:nvSpPr>
          <p:cNvPr id="2" name="market-title">
            <a:extLst xmlns:a="http://schemas.openxmlformats.org/drawingml/2006/main">
              <a:ext uri="{FF2B5EF4-FFF2-40B4-BE49-F238E27FC236}">
                <a16:creationId xmlns:a16="http://schemas.microsoft.com/office/drawing/2014/main" id="{FFF175B1-B543-4649-A32C-2C8E07EC8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51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Sri Lanka's tourism recovery creates a timely digital planning opportunity.</a:t>
            </a:r>
          </a:p>
        </p:txBody>
      </p:sp>
      <p:sp>
        <p:nvSpPr>
          <p:cNvPr id="3" name="text-60-162">
            <a:extLst xmlns:a="http://schemas.openxmlformats.org/drawingml/2006/main">
              <a:ext uri="{FF2B5EF4-FFF2-40B4-BE49-F238E27FC236}">
                <a16:creationId xmlns:a16="http://schemas.microsoft.com/office/drawing/2014/main" id="{4A79DFAC-A239-435B-B274-CE5288BF7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430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Tourist arrivals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57200" y="1885950"/>
          <a:ext xmlns:a="http://schemas.openxmlformats.org/drawingml/2006/main" cx="5429250" cy="39243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675cc0a276b468b"/>
          </a:graphicData>
        </a:graphic>
      </p:graphicFrame>
      <p:sp>
        <p:nvSpPr>
          <p:cNvPr id="5" name="rect-674-162">
            <a:extLst xmlns:a="http://schemas.openxmlformats.org/drawingml/2006/main">
              <a:ext uri="{FF2B5EF4-FFF2-40B4-BE49-F238E27FC236}">
                <a16:creationId xmlns:a16="http://schemas.microsoft.com/office/drawing/2014/main" id="{F2DE0889-6672-44D8-AD9A-C462119DA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2959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7F2EA"/>
          </a:solidFill>
          <a:ln xmlns:a="http://schemas.openxmlformats.org/drawingml/2006/main" w="9525">
            <a:solidFill>
              <a:srgbClr val="C8D2CD"/>
            </a:solidFill>
            <a:prstDash val="solid"/>
          </a:ln>
        </p:spPr>
      </p:sp>
      <p:sp>
        <p:nvSpPr>
          <p:cNvPr id="6" name="text-704-182">
            <a:extLst xmlns:a="http://schemas.openxmlformats.org/drawingml/2006/main">
              <a:ext uri="{FF2B5EF4-FFF2-40B4-BE49-F238E27FC236}">
                <a16:creationId xmlns:a16="http://schemas.microsoft.com/office/drawing/2014/main" id="{B10E88FD-B468-4F73-9F6E-7617890BF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73355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063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2.36M</a:t>
            </a:r>
          </a:p>
        </p:txBody>
      </p:sp>
      <p:sp>
        <p:nvSpPr>
          <p:cNvPr id="7" name="text-954-196">
            <a:extLst xmlns:a="http://schemas.openxmlformats.org/drawingml/2006/main">
              <a:ext uri="{FF2B5EF4-FFF2-40B4-BE49-F238E27FC236}">
                <a16:creationId xmlns:a16="http://schemas.microsoft.com/office/drawing/2014/main" id="{BF00E707-C1D1-44F3-BF72-7A747641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86690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1766F"/>
                </a:solidFill>
                <a:latin typeface="Arial"/>
                <a:ea typeface="Arial"/>
                <a:cs typeface="Arial"/>
              </a:rPr>
              <a:t>tourist arrivals in 2025</a:t>
            </a:r>
          </a:p>
        </p:txBody>
      </p:sp>
      <p:sp>
        <p:nvSpPr>
          <p:cNvPr id="8" name="rect-674-312">
            <a:extLst xmlns:a="http://schemas.openxmlformats.org/drawingml/2006/main">
              <a:ext uri="{FF2B5EF4-FFF2-40B4-BE49-F238E27FC236}">
                <a16:creationId xmlns:a16="http://schemas.microsoft.com/office/drawing/2014/main" id="{BAFB7870-49FC-4C58-A4FA-1D9DFA536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71800"/>
            <a:ext cx="52959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0D4A3B"/>
          </a:solidFill>
          <a:ln xmlns:a="http://schemas.openxmlformats.org/drawingml/2006/main" w="9525">
            <a:solidFill>
              <a:srgbClr val="0D4A3B"/>
            </a:solidFill>
            <a:prstDash val="solid"/>
          </a:ln>
        </p:spPr>
      </p:sp>
      <p:sp>
        <p:nvSpPr>
          <p:cNvPr id="9" name="text-704-332">
            <a:extLst xmlns:a="http://schemas.openxmlformats.org/drawingml/2006/main">
              <a:ext uri="{FF2B5EF4-FFF2-40B4-BE49-F238E27FC236}">
                <a16:creationId xmlns:a16="http://schemas.microsoft.com/office/drawing/2014/main" id="{C2BDC300-A4AE-4B7F-9AB8-B17770035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6230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063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+15.1%</a:t>
            </a:r>
          </a:p>
        </p:txBody>
      </p:sp>
      <p:sp>
        <p:nvSpPr>
          <p:cNvPr id="10" name="text-954-346">
            <a:extLst xmlns:a="http://schemas.openxmlformats.org/drawingml/2006/main">
              <a:ext uri="{FF2B5EF4-FFF2-40B4-BE49-F238E27FC236}">
                <a16:creationId xmlns:a16="http://schemas.microsoft.com/office/drawing/2014/main" id="{46A9C146-B010-4365-97B2-45079EDDF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29565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CEBE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CEBE4"/>
                </a:solidFill>
                <a:latin typeface="Arial"/>
                <a:ea typeface="Arial"/>
                <a:cs typeface="Arial"/>
              </a:rPr>
              <a:t>growth versus 2024</a:t>
            </a:r>
          </a:p>
        </p:txBody>
      </p:sp>
      <p:sp>
        <p:nvSpPr>
          <p:cNvPr id="11" name="rect-674-462">
            <a:extLst xmlns:a="http://schemas.openxmlformats.org/drawingml/2006/main">
              <a:ext uri="{FF2B5EF4-FFF2-40B4-BE49-F238E27FC236}">
                <a16:creationId xmlns:a16="http://schemas.microsoft.com/office/drawing/2014/main" id="{33B190DF-DED6-4942-97C4-0465A4A37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00550"/>
            <a:ext cx="52959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7F2EA"/>
          </a:solidFill>
          <a:ln xmlns:a="http://schemas.openxmlformats.org/drawingml/2006/main" w="9525">
            <a:solidFill>
              <a:srgbClr val="C8D2CD"/>
            </a:solidFill>
            <a:prstDash val="solid"/>
          </a:ln>
        </p:spPr>
      </p:sp>
      <p:sp>
        <p:nvSpPr>
          <p:cNvPr id="12" name="text-704-482">
            <a:extLst xmlns:a="http://schemas.openxmlformats.org/drawingml/2006/main">
              <a:ext uri="{FF2B5EF4-FFF2-40B4-BE49-F238E27FC236}">
                <a16:creationId xmlns:a16="http://schemas.microsoft.com/office/drawing/2014/main" id="{D5E38CB1-51F1-42E7-9710-3CB126D9E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9105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063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US$3.2B</a:t>
            </a:r>
          </a:p>
        </p:txBody>
      </p:sp>
      <p:sp>
        <p:nvSpPr>
          <p:cNvPr id="13" name="text-954-496">
            <a:extLst xmlns:a="http://schemas.openxmlformats.org/drawingml/2006/main">
              <a:ext uri="{FF2B5EF4-FFF2-40B4-BE49-F238E27FC236}">
                <a16:creationId xmlns:a16="http://schemas.microsoft.com/office/drawing/2014/main" id="{8A287EE2-47FB-45C9-A804-2F4AAAB96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72440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1766F"/>
                </a:solidFill>
                <a:latin typeface="Arial"/>
                <a:ea typeface="Arial"/>
                <a:cs typeface="Arial"/>
              </a:rPr>
              <a:t>tourism earnings in 2025</a:t>
            </a:r>
          </a:p>
        </p:txBody>
      </p:sp>
      <p:sp>
        <p:nvSpPr>
          <p:cNvPr id="14" name="text-686-628">
            <a:extLst xmlns:a="http://schemas.openxmlformats.org/drawingml/2006/main">
              <a:ext uri="{FF2B5EF4-FFF2-40B4-BE49-F238E27FC236}">
                <a16:creationId xmlns:a16="http://schemas.microsoft.com/office/drawing/2014/main" id="{0FA306B5-3AB2-4AF6-8DC5-E110ACC18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98170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103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SLTDA's tourism strategy explicitly prioritizes technology-based visitor services and a stronger digital footprint.</a:t>
            </a:r>
          </a:p>
        </p:txBody>
      </p:sp>
      <p:sp>
        <p:nvSpPr>
          <p:cNvPr id="15" name="text-1182-674">
            <a:extLst xmlns:a="http://schemas.openxmlformats.org/drawingml/2006/main">
              <a:ext uri="{FF2B5EF4-FFF2-40B4-BE49-F238E27FC236}">
                <a16:creationId xmlns:a16="http://schemas.microsoft.com/office/drawing/2014/main" id="{B2E18A8D-C741-4269-805C-E8C76859C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1067660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ection-8">
            <a:extLst xmlns:a="http://schemas.openxmlformats.org/drawingml/2006/main">
              <a:ext uri="{FF2B5EF4-FFF2-40B4-BE49-F238E27FC236}">
                <a16:creationId xmlns:a16="http://schemas.microsoft.com/office/drawing/2014/main" id="{734FD167-8322-423C-AA84-F69C6496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6B3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96B32"/>
                </a:solidFill>
                <a:latin typeface="Arial"/>
                <a:ea typeface="Arial"/>
                <a:cs typeface="Arial"/>
              </a:rPr>
              <a:t>GO TO MARKET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0339F03B-ADF1-42F2-AB4E-DD892F296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2204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Start focused, then expand with the travel ecosystem.</a:t>
            </a:r>
          </a:p>
        </p:txBody>
      </p:sp>
      <p:sp>
        <p:nvSpPr>
          <p:cNvPr id="3" name="rule-152">
            <a:extLst xmlns:a="http://schemas.openxmlformats.org/drawingml/2006/main">
              <a:ext uri="{FF2B5EF4-FFF2-40B4-BE49-F238E27FC236}">
                <a16:creationId xmlns:a16="http://schemas.microsoft.com/office/drawing/2014/main" id="{B54EC7EB-E7D8-49AB-91C4-199B0294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CD"/>
          </a:solidFill>
          <a:ln xmlns:a="http://schemas.openxmlformats.org/drawingml/2006/main" w="0">
            <a:solidFill>
              <a:srgbClr val="C8D2CD"/>
            </a:solidFill>
            <a:prstDash val="solid"/>
          </a:ln>
        </p:spPr>
      </p:sp>
      <p:sp>
        <p:nvSpPr>
          <p:cNvPr id="4" name="slide-number-8">
            <a:extLst xmlns:a="http://schemas.openxmlformats.org/drawingml/2006/main">
              <a:ext uri="{FF2B5EF4-FFF2-40B4-BE49-F238E27FC236}">
                <a16:creationId xmlns:a16="http://schemas.microsoft.com/office/drawing/2014/main" id="{C11BC680-CCEF-48A3-B06F-E80E46569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text-48-182">
            <a:extLst xmlns:a="http://schemas.openxmlformats.org/drawingml/2006/main">
              <a:ext uri="{FF2B5EF4-FFF2-40B4-BE49-F238E27FC236}">
                <a16:creationId xmlns:a16="http://schemas.microsoft.com/office/drawing/2014/main" id="{7F134475-AE71-4763-9BBA-09385CC3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174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The first objective is repeatable planning adoption; monetization follows once traveler intent and partner value are validated.</a:t>
            </a:r>
          </a:p>
        </p:txBody>
      </p:sp>
      <p:sp>
        <p:nvSpPr>
          <p:cNvPr id="6" name="text-48-270">
            <a:extLst xmlns:a="http://schemas.openxmlformats.org/drawingml/2006/main">
              <a:ext uri="{FF2B5EF4-FFF2-40B4-BE49-F238E27FC236}">
                <a16:creationId xmlns:a16="http://schemas.microsoft.com/office/drawing/2014/main" id="{DB951024-6A79-46A1-8FE7-59DF74C50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7175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518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D96B3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D96B3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text-48-332">
            <a:extLst xmlns:a="http://schemas.openxmlformats.org/drawingml/2006/main">
              <a:ext uri="{FF2B5EF4-FFF2-40B4-BE49-F238E27FC236}">
                <a16:creationId xmlns:a16="http://schemas.microsoft.com/office/drawing/2014/main" id="{020031A4-D117-4AD4-8C63-B0DCBCDB2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623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Independent visitors</a:t>
            </a:r>
          </a:p>
        </p:txBody>
      </p:sp>
      <p:sp>
        <p:nvSpPr>
          <p:cNvPr id="8" name="text-48-392">
            <a:extLst xmlns:a="http://schemas.openxmlformats.org/drawingml/2006/main">
              <a:ext uri="{FF2B5EF4-FFF2-40B4-BE49-F238E27FC236}">
                <a16:creationId xmlns:a16="http://schemas.microsoft.com/office/drawing/2014/main" id="{170C7150-6423-4379-A2EF-9666D67F3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33800"/>
            <a:ext cx="3333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International travelers who want a Sri Lanka-specific route, stays, and costs before arrival.</a:t>
            </a:r>
          </a:p>
        </p:txBody>
      </p:sp>
      <p:sp>
        <p:nvSpPr>
          <p:cNvPr id="9" name="rule-506">
            <a:extLst xmlns:a="http://schemas.openxmlformats.org/drawingml/2006/main">
              <a:ext uri="{FF2B5EF4-FFF2-40B4-BE49-F238E27FC236}">
                <a16:creationId xmlns:a16="http://schemas.microsoft.com/office/drawing/2014/main" id="{C74968EE-86CD-4F9C-BD88-A9A9B2B49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965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CD"/>
          </a:solidFill>
          <a:ln xmlns:a="http://schemas.openxmlformats.org/drawingml/2006/main" w="0">
            <a:solidFill>
              <a:srgbClr val="C8D2CD"/>
            </a:solidFill>
            <a:prstDash val="solid"/>
          </a:ln>
        </p:spPr>
      </p:sp>
      <p:sp>
        <p:nvSpPr>
          <p:cNvPr id="10" name="text-48-528">
            <a:extLst xmlns:a="http://schemas.openxmlformats.org/drawingml/2006/main">
              <a:ext uri="{FF2B5EF4-FFF2-40B4-BE49-F238E27FC236}">
                <a16:creationId xmlns:a16="http://schemas.microsoft.com/office/drawing/2014/main" id="{94324372-950C-4943-ABEE-5050D6F7C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0"/>
            <a:ext cx="333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Reach: SEO, creator itineraries, university and travel communities</a:t>
            </a:r>
          </a:p>
        </p:txBody>
      </p:sp>
      <p:sp>
        <p:nvSpPr>
          <p:cNvPr id="11" name="text-448-270">
            <a:extLst xmlns:a="http://schemas.openxmlformats.org/drawingml/2006/main">
              <a:ext uri="{FF2B5EF4-FFF2-40B4-BE49-F238E27FC236}">
                <a16:creationId xmlns:a16="http://schemas.microsoft.com/office/drawing/2014/main" id="{D9C3FB19-4104-471A-B2FD-EB0820AD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57175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518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D96B3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D96B3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text-448-332">
            <a:extLst xmlns:a="http://schemas.openxmlformats.org/drawingml/2006/main">
              <a:ext uri="{FF2B5EF4-FFF2-40B4-BE49-F238E27FC236}">
                <a16:creationId xmlns:a16="http://schemas.microsoft.com/office/drawing/2014/main" id="{8852BFB2-51F8-480E-9BCA-F3D5ECC7F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1623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Groups and diaspora</a:t>
            </a:r>
          </a:p>
        </p:txBody>
      </p:sp>
      <p:sp>
        <p:nvSpPr>
          <p:cNvPr id="13" name="text-448-392">
            <a:extLst xmlns:a="http://schemas.openxmlformats.org/drawingml/2006/main">
              <a:ext uri="{FF2B5EF4-FFF2-40B4-BE49-F238E27FC236}">
                <a16:creationId xmlns:a16="http://schemas.microsoft.com/office/drawing/2014/main" id="{866738EA-151F-48B0-A943-5252C154B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733800"/>
            <a:ext cx="3333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Friends, families, and returning Sri Lankans coordinating shared decisions and realistic budgets.</a:t>
            </a:r>
          </a:p>
        </p:txBody>
      </p:sp>
      <p:sp>
        <p:nvSpPr>
          <p:cNvPr id="14" name="rule-506">
            <a:extLst xmlns:a="http://schemas.openxmlformats.org/drawingml/2006/main">
              <a:ext uri="{FF2B5EF4-FFF2-40B4-BE49-F238E27FC236}">
                <a16:creationId xmlns:a16="http://schemas.microsoft.com/office/drawing/2014/main" id="{F8E3F25A-6118-48C6-8708-808764607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1965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CD"/>
          </a:solidFill>
          <a:ln xmlns:a="http://schemas.openxmlformats.org/drawingml/2006/main" w="0">
            <a:solidFill>
              <a:srgbClr val="C8D2CD"/>
            </a:solidFill>
            <a:prstDash val="solid"/>
          </a:ln>
        </p:spPr>
      </p:sp>
      <p:sp>
        <p:nvSpPr>
          <p:cNvPr id="15" name="text-448-528">
            <a:extLst xmlns:a="http://schemas.openxmlformats.org/drawingml/2006/main">
              <a:ext uri="{FF2B5EF4-FFF2-40B4-BE49-F238E27FC236}">
                <a16:creationId xmlns:a16="http://schemas.microsoft.com/office/drawing/2014/main" id="{954B0325-6C7D-4AD4-BC63-255C8AE77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029200"/>
            <a:ext cx="333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Reach: referrals, collaborative planning, community partnerships</a:t>
            </a:r>
          </a:p>
        </p:txBody>
      </p:sp>
      <p:sp>
        <p:nvSpPr>
          <p:cNvPr id="16" name="text-848-270">
            <a:extLst xmlns:a="http://schemas.openxmlformats.org/drawingml/2006/main">
              <a:ext uri="{FF2B5EF4-FFF2-40B4-BE49-F238E27FC236}">
                <a16:creationId xmlns:a16="http://schemas.microsoft.com/office/drawing/2014/main" id="{A7170BC7-2DD1-4BCB-832D-EB587E40B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7175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518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D96B3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D96B3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text-848-332">
            <a:extLst xmlns:a="http://schemas.openxmlformats.org/drawingml/2006/main">
              <a:ext uri="{FF2B5EF4-FFF2-40B4-BE49-F238E27FC236}">
                <a16:creationId xmlns:a16="http://schemas.microsoft.com/office/drawing/2014/main" id="{A3A8BBEA-D707-4667-B963-56F92BF4C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623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Travel partners</a:t>
            </a:r>
          </a:p>
        </p:txBody>
      </p:sp>
      <p:sp>
        <p:nvSpPr>
          <p:cNvPr id="18" name="text-848-392">
            <a:extLst xmlns:a="http://schemas.openxmlformats.org/drawingml/2006/main">
              <a:ext uri="{FF2B5EF4-FFF2-40B4-BE49-F238E27FC236}">
                <a16:creationId xmlns:a16="http://schemas.microsoft.com/office/drawing/2014/main" id="{750A4871-3AEC-44D2-87EE-D92A92C5D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733800"/>
            <a:ext cx="3333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Hotels, guides, and operators who benefit from higher-intent, better-prepared travelers.</a:t>
            </a:r>
          </a:p>
        </p:txBody>
      </p:sp>
      <p:sp>
        <p:nvSpPr>
          <p:cNvPr id="19" name="rule-506">
            <a:extLst xmlns:a="http://schemas.openxmlformats.org/drawingml/2006/main">
              <a:ext uri="{FF2B5EF4-FFF2-40B4-BE49-F238E27FC236}">
                <a16:creationId xmlns:a16="http://schemas.microsoft.com/office/drawing/2014/main" id="{5D152458-90E8-4982-84F8-59434272D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81965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CD"/>
          </a:solidFill>
          <a:ln xmlns:a="http://schemas.openxmlformats.org/drawingml/2006/main" w="0">
            <a:solidFill>
              <a:srgbClr val="C8D2CD"/>
            </a:solidFill>
            <a:prstDash val="solid"/>
          </a:ln>
        </p:spPr>
      </p:sp>
      <p:sp>
        <p:nvSpPr>
          <p:cNvPr id="20" name="text-848-528">
            <a:extLst xmlns:a="http://schemas.openxmlformats.org/drawingml/2006/main">
              <a:ext uri="{FF2B5EF4-FFF2-40B4-BE49-F238E27FC236}">
                <a16:creationId xmlns:a16="http://schemas.microsoft.com/office/drawing/2014/main" id="{AAA3CADC-1BA3-4811-8C0E-472C09988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029200"/>
            <a:ext cx="333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Reach: pilot integrations and curated local inventory</a:t>
            </a:r>
          </a:p>
        </p:txBody>
      </p:sp>
      <p:sp>
        <p:nvSpPr>
          <p:cNvPr id="21" name="rect-48-628">
            <a:extLst xmlns:a="http://schemas.openxmlformats.org/drawingml/2006/main">
              <a:ext uri="{FF2B5EF4-FFF2-40B4-BE49-F238E27FC236}">
                <a16:creationId xmlns:a16="http://schemas.microsoft.com/office/drawing/2014/main" id="{F7F25B68-845B-492C-AB90-5D7AB0254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81700"/>
            <a:ext cx="11277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A3B"/>
          </a:solidFill>
          <a:ln xmlns:a="http://schemas.openxmlformats.org/drawingml/2006/main" w="0">
            <a:solidFill>
              <a:srgbClr val="0D4A3B"/>
            </a:solidFill>
            <a:prstDash val="solid"/>
          </a:ln>
        </p:spPr>
      </p:sp>
      <p:sp>
        <p:nvSpPr>
          <p:cNvPr id="22" name="text-72-641">
            <a:extLst xmlns:a="http://schemas.openxmlformats.org/drawingml/2006/main">
              <a:ext uri="{FF2B5EF4-FFF2-40B4-BE49-F238E27FC236}">
                <a16:creationId xmlns:a16="http://schemas.microsoft.com/office/drawing/2014/main" id="{BDA30F3B-78C7-4407-8E78-AAEA179AE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05525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COMMERCIAL MODEL TO VALIDATE: freemium planning + affiliate referrals + B2B white-label/API</a:t>
            </a:r>
          </a:p>
        </p:txBody>
      </p:sp>
    </p:spTree>
    <p:extLst>
      <p:ext uri="{BB962C8B-B14F-4D97-AF65-F5344CB8AC3E}">
        <p14:creationId xmlns:p14="http://schemas.microsoft.com/office/powerpoint/2010/main" val="21100320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ection-9">
            <a:extLst xmlns:a="http://schemas.openxmlformats.org/drawingml/2006/main">
              <a:ext uri="{FF2B5EF4-FFF2-40B4-BE49-F238E27FC236}">
                <a16:creationId xmlns:a16="http://schemas.microsoft.com/office/drawing/2014/main" id="{4C5875CB-1355-40F4-A602-B4443B86B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6B3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96B32"/>
                </a:solidFill>
                <a:latin typeface="Arial"/>
                <a:ea typeface="Arial"/>
                <a:cs typeface="Arial"/>
              </a:rPr>
              <a:t>FUTURE SCALABILITY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590D0B13-65BD-4CF6-A358-67E53F80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2204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349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A durable architecture supports reliability today and scale tomorrow.</a:t>
            </a:r>
          </a:p>
        </p:txBody>
      </p:sp>
      <p:sp>
        <p:nvSpPr>
          <p:cNvPr id="3" name="rule-152">
            <a:extLst xmlns:a="http://schemas.openxmlformats.org/drawingml/2006/main">
              <a:ext uri="{FF2B5EF4-FFF2-40B4-BE49-F238E27FC236}">
                <a16:creationId xmlns:a16="http://schemas.microsoft.com/office/drawing/2014/main" id="{F00C33EA-4833-4AB6-9ADD-02B36311B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CD"/>
          </a:solidFill>
          <a:ln xmlns:a="http://schemas.openxmlformats.org/drawingml/2006/main" w="0">
            <a:solidFill>
              <a:srgbClr val="C8D2CD"/>
            </a:solidFill>
            <a:prstDash val="solid"/>
          </a:ln>
        </p:spPr>
      </p:sp>
      <p:sp>
        <p:nvSpPr>
          <p:cNvPr id="4" name="slide-number-9">
            <a:extLst xmlns:a="http://schemas.openxmlformats.org/drawingml/2006/main">
              <a:ext uri="{FF2B5EF4-FFF2-40B4-BE49-F238E27FC236}">
                <a16:creationId xmlns:a16="http://schemas.microsoft.com/office/drawing/2014/main" id="{C94DB160-D031-4DCA-82BF-FDDB05901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text-48-182">
            <a:extLst xmlns:a="http://schemas.openxmlformats.org/drawingml/2006/main">
              <a:ext uri="{FF2B5EF4-FFF2-40B4-BE49-F238E27FC236}">
                <a16:creationId xmlns:a16="http://schemas.microsoft.com/office/drawing/2014/main" id="{181545C9-C6A6-4050-B2F0-E8C6AED22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83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The system separates the fast user interface from long-running planning work, persistent state, and external providers.</a:t>
            </a:r>
          </a:p>
        </p:txBody>
      </p:sp>
      <p:sp>
        <p:nvSpPr>
          <p:cNvPr id="6" name="arch-arrow-1">
            <a:extLst xmlns:a="http://schemas.openxmlformats.org/drawingml/2006/main">
              <a:ext uri="{FF2B5EF4-FFF2-40B4-BE49-F238E27FC236}">
                <a16:creationId xmlns:a16="http://schemas.microsoft.com/office/drawing/2014/main" id="{35968FCE-4E13-40A1-875E-B01ACE9BA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90875"/>
            <a:ext cx="8001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6B32"/>
          </a:solidFill>
          <a:ln xmlns:a="http://schemas.openxmlformats.org/drawingml/2006/main" w="0">
            <a:solidFill>
              <a:srgbClr val="D96B32"/>
            </a:solidFill>
            <a:prstDash val="solid"/>
          </a:ln>
        </p:spPr>
      </p:sp>
      <p:sp>
        <p:nvSpPr>
          <p:cNvPr id="7" name="arch-arrow-2">
            <a:extLst xmlns:a="http://schemas.openxmlformats.org/drawingml/2006/main">
              <a:ext uri="{FF2B5EF4-FFF2-40B4-BE49-F238E27FC236}">
                <a16:creationId xmlns:a16="http://schemas.microsoft.com/office/drawing/2014/main" id="{464A1A3E-E699-45AE-BD9D-6B239F69F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90875"/>
            <a:ext cx="8001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6B32"/>
          </a:solidFill>
          <a:ln xmlns:a="http://schemas.openxmlformats.org/drawingml/2006/main" w="0">
            <a:solidFill>
              <a:srgbClr val="D96B32"/>
            </a:solidFill>
            <a:prstDash val="solid"/>
          </a:ln>
        </p:spPr>
      </p:sp>
      <p:sp>
        <p:nvSpPr>
          <p:cNvPr id="8" name="arch-arrow-3">
            <a:extLst xmlns:a="http://schemas.openxmlformats.org/drawingml/2006/main">
              <a:ext uri="{FF2B5EF4-FFF2-40B4-BE49-F238E27FC236}">
                <a16:creationId xmlns:a16="http://schemas.microsoft.com/office/drawing/2014/main" id="{AF9FCBF1-C814-4B04-854D-65DA8E257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90875"/>
            <a:ext cx="8001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6B32"/>
          </a:solidFill>
          <a:ln xmlns:a="http://schemas.openxmlformats.org/drawingml/2006/main" w="0">
            <a:solidFill>
              <a:srgbClr val="D96B32"/>
            </a:solidFill>
            <a:prstDash val="solid"/>
          </a:ln>
        </p:spPr>
      </p:sp>
      <p:sp>
        <p:nvSpPr>
          <p:cNvPr id="9" name="arch-arrow-down">
            <a:extLst xmlns:a="http://schemas.openxmlformats.org/drawingml/2006/main">
              <a:ext uri="{FF2B5EF4-FFF2-40B4-BE49-F238E27FC236}">
                <a16:creationId xmlns:a16="http://schemas.microsoft.com/office/drawing/2014/main" id="{8E30BC91-3A2E-422E-89AC-ECBE3CBFC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457700"/>
            <a:ext cx="323850" cy="8382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D96B32"/>
          </a:solidFill>
          <a:ln xmlns:a="http://schemas.openxmlformats.org/drawingml/2006/main" w="0">
            <a:solidFill>
              <a:srgbClr val="D96B32"/>
            </a:solidFill>
            <a:prstDash val="solid"/>
          </a:ln>
        </p:spPr>
      </p:sp>
      <p:sp>
        <p:nvSpPr>
          <p:cNvPr id="10" name="rect-48-274">
            <a:extLst xmlns:a="http://schemas.openxmlformats.org/drawingml/2006/main">
              <a:ext uri="{FF2B5EF4-FFF2-40B4-BE49-F238E27FC236}">
                <a16:creationId xmlns:a16="http://schemas.microsoft.com/office/drawing/2014/main" id="{6E50217F-3696-4244-BBC1-942831C2A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09850"/>
            <a:ext cx="2305050" cy="14668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EF2EF"/>
          </a:solidFill>
          <a:ln xmlns:a="http://schemas.openxmlformats.org/drawingml/2006/main" w="9525">
            <a:solidFill>
              <a:srgbClr val="C8D2CD"/>
            </a:solidFill>
            <a:prstDash val="solid"/>
          </a:ln>
        </p:spPr>
      </p:sp>
      <p:sp>
        <p:nvSpPr>
          <p:cNvPr id="11" name="text-68-308">
            <a:extLst xmlns:a="http://schemas.openxmlformats.org/drawingml/2006/main">
              <a:ext uri="{FF2B5EF4-FFF2-40B4-BE49-F238E27FC236}">
                <a16:creationId xmlns:a16="http://schemas.microsoft.com/office/drawing/2014/main" id="{B0F5110F-9455-4635-BE84-8AA3821B9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33700"/>
            <a:ext cx="192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NEXT.JS PWA</a:t>
            </a:r>
          </a:p>
        </p:txBody>
      </p:sp>
      <p:sp>
        <p:nvSpPr>
          <p:cNvPr id="12" name="text-68-358">
            <a:extLst xmlns:a="http://schemas.openxmlformats.org/drawingml/2006/main">
              <a:ext uri="{FF2B5EF4-FFF2-40B4-BE49-F238E27FC236}">
                <a16:creationId xmlns:a16="http://schemas.microsoft.com/office/drawing/2014/main" id="{18B51DFE-4EEB-47B1-A86F-CCB94140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09950"/>
            <a:ext cx="1924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Responsive traveler experience</a:t>
            </a:r>
          </a:p>
        </p:txBody>
      </p:sp>
      <p:sp>
        <p:nvSpPr>
          <p:cNvPr id="13" name="rect-340-274">
            <a:extLst xmlns:a="http://schemas.openxmlformats.org/drawingml/2006/main">
              <a:ext uri="{FF2B5EF4-FFF2-40B4-BE49-F238E27FC236}">
                <a16:creationId xmlns:a16="http://schemas.microsoft.com/office/drawing/2014/main" id="{B225E922-903B-480F-8108-F13547D0E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609850"/>
            <a:ext cx="2305050" cy="14668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EF2EF"/>
          </a:solidFill>
          <a:ln xmlns:a="http://schemas.openxmlformats.org/drawingml/2006/main" w="9525">
            <a:solidFill>
              <a:srgbClr val="C8D2CD"/>
            </a:solidFill>
            <a:prstDash val="solid"/>
          </a:ln>
        </p:spPr>
      </p:sp>
      <p:sp>
        <p:nvSpPr>
          <p:cNvPr id="14" name="text-360-308">
            <a:extLst xmlns:a="http://schemas.openxmlformats.org/drawingml/2006/main">
              <a:ext uri="{FF2B5EF4-FFF2-40B4-BE49-F238E27FC236}">
                <a16:creationId xmlns:a16="http://schemas.microsoft.com/office/drawing/2014/main" id="{3D3F20D1-E5E9-4B76-8636-DE475541B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33700"/>
            <a:ext cx="192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FASTAPI</a:t>
            </a:r>
          </a:p>
        </p:txBody>
      </p:sp>
      <p:sp>
        <p:nvSpPr>
          <p:cNvPr id="15" name="text-360-358">
            <a:extLst xmlns:a="http://schemas.openxmlformats.org/drawingml/2006/main">
              <a:ext uri="{FF2B5EF4-FFF2-40B4-BE49-F238E27FC236}">
                <a16:creationId xmlns:a16="http://schemas.microsoft.com/office/drawing/2014/main" id="{F7E41FF2-6AED-4E3C-8CBA-6E1A42270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09950"/>
            <a:ext cx="1924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Cookie-authenticated JSON API</a:t>
            </a:r>
          </a:p>
        </p:txBody>
      </p:sp>
      <p:sp>
        <p:nvSpPr>
          <p:cNvPr id="16" name="rect-632-274">
            <a:extLst xmlns:a="http://schemas.openxmlformats.org/drawingml/2006/main">
              <a:ext uri="{FF2B5EF4-FFF2-40B4-BE49-F238E27FC236}">
                <a16:creationId xmlns:a16="http://schemas.microsoft.com/office/drawing/2014/main" id="{64FE4348-CB48-408B-BB57-672053C25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609850"/>
            <a:ext cx="2305050" cy="14668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EF2EF"/>
          </a:solidFill>
          <a:ln xmlns:a="http://schemas.openxmlformats.org/drawingml/2006/main" w="9525">
            <a:solidFill>
              <a:srgbClr val="C8D2CD"/>
            </a:solidFill>
            <a:prstDash val="solid"/>
          </a:ln>
        </p:spPr>
      </p:sp>
      <p:sp>
        <p:nvSpPr>
          <p:cNvPr id="17" name="text-652-308">
            <a:extLst xmlns:a="http://schemas.openxmlformats.org/drawingml/2006/main">
              <a:ext uri="{FF2B5EF4-FFF2-40B4-BE49-F238E27FC236}">
                <a16:creationId xmlns:a16="http://schemas.microsoft.com/office/drawing/2014/main" id="{29E57566-2040-4218-93E1-19A5B18AB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33700"/>
            <a:ext cx="192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18" name="text-652-358">
            <a:extLst xmlns:a="http://schemas.openxmlformats.org/drawingml/2006/main">
              <a:ext uri="{FF2B5EF4-FFF2-40B4-BE49-F238E27FC236}">
                <a16:creationId xmlns:a16="http://schemas.microsoft.com/office/drawing/2014/main" id="{2E795F41-C302-44AC-94BA-E6C82DDFA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09950"/>
            <a:ext cx="1924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Trips, jobs, versions, caches</a:t>
            </a:r>
          </a:p>
        </p:txBody>
      </p:sp>
      <p:sp>
        <p:nvSpPr>
          <p:cNvPr id="19" name="rect-924-274">
            <a:extLst xmlns:a="http://schemas.openxmlformats.org/drawingml/2006/main">
              <a:ext uri="{FF2B5EF4-FFF2-40B4-BE49-F238E27FC236}">
                <a16:creationId xmlns:a16="http://schemas.microsoft.com/office/drawing/2014/main" id="{BB7340F3-A9E3-41EC-91A5-6E8CBF82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09850"/>
            <a:ext cx="2305050" cy="14668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D4A3B"/>
          </a:solidFill>
          <a:ln xmlns:a="http://schemas.openxmlformats.org/drawingml/2006/main" w="9525">
            <a:solidFill>
              <a:srgbClr val="0D4A3B"/>
            </a:solidFill>
            <a:prstDash val="solid"/>
          </a:ln>
        </p:spPr>
      </p:sp>
      <p:sp>
        <p:nvSpPr>
          <p:cNvPr id="20" name="text-944-308">
            <a:extLst xmlns:a="http://schemas.openxmlformats.org/drawingml/2006/main">
              <a:ext uri="{FF2B5EF4-FFF2-40B4-BE49-F238E27FC236}">
                <a16:creationId xmlns:a16="http://schemas.microsoft.com/office/drawing/2014/main" id="{68BDC0DB-F5E3-441C-AEAB-F6A503715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933700"/>
            <a:ext cx="192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298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PLANNING WORKER</a:t>
            </a:r>
          </a:p>
        </p:txBody>
      </p:sp>
      <p:sp>
        <p:nvSpPr>
          <p:cNvPr id="21" name="text-944-358">
            <a:extLst xmlns:a="http://schemas.openxmlformats.org/drawingml/2006/main">
              <a:ext uri="{FF2B5EF4-FFF2-40B4-BE49-F238E27FC236}">
                <a16:creationId xmlns:a16="http://schemas.microsoft.com/office/drawing/2014/main" id="{29478A56-CE85-4F30-8EFF-25BB22918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409950"/>
            <a:ext cx="1924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DCEBE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CEBE4"/>
                </a:solidFill>
                <a:latin typeface="Arial"/>
                <a:ea typeface="Arial"/>
                <a:cs typeface="Arial"/>
              </a:rPr>
              <a:t>Durable background orchestration</a:t>
            </a:r>
          </a:p>
        </p:txBody>
      </p:sp>
      <p:sp>
        <p:nvSpPr>
          <p:cNvPr id="22" name="rect-834-548">
            <a:extLst xmlns:a="http://schemas.openxmlformats.org/drawingml/2006/main">
              <a:ext uri="{FF2B5EF4-FFF2-40B4-BE49-F238E27FC236}">
                <a16:creationId xmlns:a16="http://schemas.microsoft.com/office/drawing/2014/main" id="{852450CC-FFE4-4A4D-B7AD-1F000116E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219700"/>
            <a:ext cx="37719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7F2EA"/>
          </a:solidFill>
          <a:ln xmlns:a="http://schemas.openxmlformats.org/drawingml/2006/main" w="9525">
            <a:solidFill>
              <a:srgbClr val="C8D2CD"/>
            </a:solidFill>
            <a:prstDash val="solid"/>
          </a:ln>
        </p:spPr>
      </p:sp>
      <p:sp>
        <p:nvSpPr>
          <p:cNvPr id="23" name="text-858-566">
            <a:extLst xmlns:a="http://schemas.openxmlformats.org/drawingml/2006/main">
              <a:ext uri="{FF2B5EF4-FFF2-40B4-BE49-F238E27FC236}">
                <a16:creationId xmlns:a16="http://schemas.microsoft.com/office/drawing/2014/main" id="{74D07C44-CF71-478D-99E2-7A68166E7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391150"/>
            <a:ext cx="331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314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GEMINI + MAP / WEATHER / MEDIA / FARE PROVIDERS</a:t>
            </a:r>
          </a:p>
        </p:txBody>
      </p:sp>
      <p:sp>
        <p:nvSpPr>
          <p:cNvPr id="24" name="text-230-648">
            <a:extLst xmlns:a="http://schemas.openxmlformats.org/drawingml/2006/main">
              <a:ext uri="{FF2B5EF4-FFF2-40B4-BE49-F238E27FC236}">
                <a16:creationId xmlns:a16="http://schemas.microsoft.com/office/drawing/2014/main" id="{28B67855-E796-4AFB-99EB-EB7B2CF3D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617220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784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A665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A6653"/>
                </a:solidFill>
                <a:latin typeface="Arial"/>
                <a:ea typeface="Arial"/>
                <a:cs typeface="Arial"/>
              </a:rPr>
              <a:t>Structured AI output  •  provider cache  •  fallbacks  •  quota controls</a:t>
            </a:r>
          </a:p>
        </p:txBody>
      </p:sp>
    </p:spTree>
    <p:extLst>
      <p:ext uri="{BB962C8B-B14F-4D97-AF65-F5344CB8AC3E}">
        <p14:creationId xmlns:p14="http://schemas.microsoft.com/office/powerpoint/2010/main" val="56260596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ection-10">
            <a:extLst xmlns:a="http://schemas.openxmlformats.org/drawingml/2006/main">
              <a:ext uri="{FF2B5EF4-FFF2-40B4-BE49-F238E27FC236}">
                <a16:creationId xmlns:a16="http://schemas.microsoft.com/office/drawing/2014/main" id="{FDC2AE55-6082-4E88-878E-B6E08C14C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6B3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96B32"/>
                </a:solidFill>
                <a:latin typeface="Arial"/>
                <a:ea typeface="Arial"/>
                <a:cs typeface="Arial"/>
              </a:rPr>
              <a:t>ROADMAP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87DFFE70-298B-4758-870D-DC7647AE1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2204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Scale through trust, reach, and transaction depth.</a:t>
            </a:r>
          </a:p>
        </p:txBody>
      </p:sp>
      <p:sp>
        <p:nvSpPr>
          <p:cNvPr id="3" name="rule-152">
            <a:extLst xmlns:a="http://schemas.openxmlformats.org/drawingml/2006/main">
              <a:ext uri="{FF2B5EF4-FFF2-40B4-BE49-F238E27FC236}">
                <a16:creationId xmlns:a16="http://schemas.microsoft.com/office/drawing/2014/main" id="{B91B5C18-064C-4B8B-AB2D-C692D946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CD"/>
          </a:solidFill>
          <a:ln xmlns:a="http://schemas.openxmlformats.org/drawingml/2006/main" w="0">
            <a:solidFill>
              <a:srgbClr val="C8D2CD"/>
            </a:solidFill>
            <a:prstDash val="solid"/>
          </a:ln>
        </p:spPr>
      </p:sp>
      <p:sp>
        <p:nvSpPr>
          <p:cNvPr id="4" name="slide-number-10">
            <a:extLst xmlns:a="http://schemas.openxmlformats.org/drawingml/2006/main">
              <a:ext uri="{FF2B5EF4-FFF2-40B4-BE49-F238E27FC236}">
                <a16:creationId xmlns:a16="http://schemas.microsoft.com/office/drawing/2014/main" id="{D325A4A8-6D59-4190-B0BF-3F67C65D0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text-48-182">
            <a:extLst xmlns:a="http://schemas.openxmlformats.org/drawingml/2006/main">
              <a:ext uri="{FF2B5EF4-FFF2-40B4-BE49-F238E27FC236}">
                <a16:creationId xmlns:a16="http://schemas.microsoft.com/office/drawing/2014/main" id="{0DC5E6A4-F49E-45B2-95CD-987804FAC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26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The product can grow without changing its core promise: one reliable plan that stays useful before and during the trip.</a:t>
            </a:r>
          </a:p>
        </p:txBody>
      </p:sp>
      <p:sp>
        <p:nvSpPr>
          <p:cNvPr id="6" name="rule-360">
            <a:extLst xmlns:a="http://schemas.openxmlformats.org/drawingml/2006/main">
              <a:ext uri="{FF2B5EF4-FFF2-40B4-BE49-F238E27FC236}">
                <a16:creationId xmlns:a16="http://schemas.microsoft.com/office/drawing/2014/main" id="{D365D894-2CAD-457D-8FE8-5735B5BE0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29000"/>
            <a:ext cx="9753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32"/>
          </a:solidFill>
          <a:ln xmlns:a="http://schemas.openxmlformats.org/drawingml/2006/main" w="0">
            <a:solidFill>
              <a:srgbClr val="D96B32"/>
            </a:solidFill>
            <a:prstDash val="solid"/>
          </a:ln>
        </p:spPr>
      </p:sp>
      <p:sp>
        <p:nvSpPr>
          <p:cNvPr id="7" name="rect-162-342">
            <a:extLst xmlns:a="http://schemas.openxmlformats.org/drawingml/2006/main">
              <a:ext uri="{FF2B5EF4-FFF2-40B4-BE49-F238E27FC236}">
                <a16:creationId xmlns:a16="http://schemas.microsoft.com/office/drawing/2014/main" id="{8C99276F-702D-46C2-AC23-2A4AD6944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2575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4A3B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8" name="text-80-404">
            <a:extLst xmlns:a="http://schemas.openxmlformats.org/drawingml/2006/main">
              <a:ext uri="{FF2B5EF4-FFF2-40B4-BE49-F238E27FC236}">
                <a16:creationId xmlns:a16="http://schemas.microsoft.com/office/drawing/2014/main" id="{5FDA9D20-4833-4417-82B8-1F89DB200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A665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A6653"/>
                </a:solidFill>
                <a:latin typeface="Arial"/>
                <a:ea typeface="Arial"/>
                <a:cs typeface="Arial"/>
              </a:rPr>
              <a:t>NOW</a:t>
            </a:r>
          </a:p>
        </p:txBody>
      </p:sp>
      <p:sp>
        <p:nvSpPr>
          <p:cNvPr id="9" name="text-80-444">
            <a:extLst xmlns:a="http://schemas.openxmlformats.org/drawingml/2006/main">
              <a:ext uri="{FF2B5EF4-FFF2-40B4-BE49-F238E27FC236}">
                <a16:creationId xmlns:a16="http://schemas.microsoft.com/office/drawing/2014/main" id="{5BEA7984-BEBB-426E-ADBE-E53840331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Strengthen trust</a:t>
            </a:r>
          </a:p>
        </p:txBody>
      </p:sp>
      <p:sp>
        <p:nvSpPr>
          <p:cNvPr id="10" name="text-80-500">
            <a:extLst xmlns:a="http://schemas.openxmlformats.org/drawingml/2006/main">
              <a:ext uri="{FF2B5EF4-FFF2-40B4-BE49-F238E27FC236}">
                <a16:creationId xmlns:a16="http://schemas.microsoft.com/office/drawing/2014/main" id="{4F0FD62F-48E4-4C30-99F7-CE6D422B1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285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Public deployment</a:t>
            </a:r>
          </a:p>
          <a:p xmlns:a="http://schemas.openxmlformats.org/drawingml/2006/main">
            <a:pPr algn="l">
              <a:defRPr sz="1350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provider monitoring</a:t>
            </a:r>
          </a:p>
          <a:p xmlns:a="http://schemas.openxmlformats.org/drawingml/2006/main">
            <a:pPr algn="l">
              <a:defRPr sz="1350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real-user usability tests</a:t>
            </a:r>
          </a:p>
        </p:txBody>
      </p:sp>
      <p:sp>
        <p:nvSpPr>
          <p:cNvPr id="11" name="rect-622-342">
            <a:extLst xmlns:a="http://schemas.openxmlformats.org/drawingml/2006/main">
              <a:ext uri="{FF2B5EF4-FFF2-40B4-BE49-F238E27FC236}">
                <a16:creationId xmlns:a16="http://schemas.microsoft.com/office/drawing/2014/main" id="{30DDDE7D-6617-40CA-992F-0CDE65BF5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2575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B32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2" name="text-486-404">
            <a:extLst xmlns:a="http://schemas.openxmlformats.org/drawingml/2006/main">
              <a:ext uri="{FF2B5EF4-FFF2-40B4-BE49-F238E27FC236}">
                <a16:creationId xmlns:a16="http://schemas.microsoft.com/office/drawing/2014/main" id="{A042FFFF-92E3-4BA0-93E7-DD716D330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8481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96B3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96B32"/>
                </a:solidFill>
                <a:latin typeface="Arial"/>
                <a:ea typeface="Arial"/>
                <a:cs typeface="Arial"/>
              </a:rPr>
              <a:t>NEXT</a:t>
            </a:r>
          </a:p>
        </p:txBody>
      </p:sp>
      <p:sp>
        <p:nvSpPr>
          <p:cNvPr id="13" name="text-486-444">
            <a:extLst xmlns:a="http://schemas.openxmlformats.org/drawingml/2006/main">
              <a:ext uri="{FF2B5EF4-FFF2-40B4-BE49-F238E27FC236}">
                <a16:creationId xmlns:a16="http://schemas.microsoft.com/office/drawing/2014/main" id="{ECF04E7F-2E56-4506-81B9-D697C8F34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2291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Grow planning value</a:t>
            </a:r>
          </a:p>
        </p:txBody>
      </p:sp>
      <p:sp>
        <p:nvSpPr>
          <p:cNvPr id="14" name="text-486-500">
            <a:extLst xmlns:a="http://schemas.openxmlformats.org/drawingml/2006/main">
              <a:ext uri="{FF2B5EF4-FFF2-40B4-BE49-F238E27FC236}">
                <a16:creationId xmlns:a16="http://schemas.microsoft.com/office/drawing/2014/main" id="{DF40B89C-669C-498D-833F-ACFCB181E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62500"/>
            <a:ext cx="285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Live availability signals</a:t>
            </a:r>
          </a:p>
          <a:p xmlns:a="http://schemas.openxmlformats.org/drawingml/2006/main">
            <a:pPr algn="l">
              <a:defRPr sz="1350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local partner inventory</a:t>
            </a:r>
          </a:p>
          <a:p xmlns:a="http://schemas.openxmlformats.org/drawingml/2006/main">
            <a:pPr algn="l">
              <a:defRPr sz="1350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multilingual experience</a:t>
            </a:r>
          </a:p>
        </p:txBody>
      </p:sp>
      <p:sp>
        <p:nvSpPr>
          <p:cNvPr id="15" name="rect-1082-342">
            <a:extLst xmlns:a="http://schemas.openxmlformats.org/drawingml/2006/main">
              <a:ext uri="{FF2B5EF4-FFF2-40B4-BE49-F238E27FC236}">
                <a16:creationId xmlns:a16="http://schemas.microsoft.com/office/drawing/2014/main" id="{DB100099-8722-4FD9-881C-F5E316453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2575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4A3B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6" name="text-894-404">
            <a:extLst xmlns:a="http://schemas.openxmlformats.org/drawingml/2006/main">
              <a:ext uri="{FF2B5EF4-FFF2-40B4-BE49-F238E27FC236}">
                <a16:creationId xmlns:a16="http://schemas.microsoft.com/office/drawing/2014/main" id="{4CCE4FA8-39AC-469F-934F-4AC83642F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8481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A665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A6653"/>
                </a:solidFill>
                <a:latin typeface="Arial"/>
                <a:ea typeface="Arial"/>
                <a:cs typeface="Arial"/>
              </a:rPr>
              <a:t>SCALE</a:t>
            </a:r>
          </a:p>
        </p:txBody>
      </p:sp>
      <p:sp>
        <p:nvSpPr>
          <p:cNvPr id="17" name="text-894-444">
            <a:extLst xmlns:a="http://schemas.openxmlformats.org/drawingml/2006/main">
              <a:ext uri="{FF2B5EF4-FFF2-40B4-BE49-F238E27FC236}">
                <a16:creationId xmlns:a16="http://schemas.microsoft.com/office/drawing/2014/main" id="{9411A47C-3497-4F8F-B7D5-18C1A9E6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2291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Deepen transactions</a:t>
            </a:r>
          </a:p>
        </p:txBody>
      </p:sp>
      <p:sp>
        <p:nvSpPr>
          <p:cNvPr id="18" name="text-894-500">
            <a:extLst xmlns:a="http://schemas.openxmlformats.org/drawingml/2006/main">
              <a:ext uri="{FF2B5EF4-FFF2-40B4-BE49-F238E27FC236}">
                <a16:creationId xmlns:a16="http://schemas.microsoft.com/office/drawing/2014/main" id="{5F0160DB-0FD8-4F79-904E-9EE88CBF3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762500"/>
            <a:ext cx="285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Booking and payments</a:t>
            </a:r>
          </a:p>
          <a:p xmlns:a="http://schemas.openxmlformats.org/drawingml/2006/main">
            <a:pPr algn="l">
              <a:defRPr sz="1350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partner API / white-label</a:t>
            </a:r>
          </a:p>
          <a:p xmlns:a="http://schemas.openxmlformats.org/drawingml/2006/main">
            <a:pPr algn="l">
              <a:defRPr sz="1350" b="0">
                <a:solidFill>
                  <a:srgbClr val="6176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66F"/>
                </a:solidFill>
                <a:latin typeface="Arial"/>
                <a:ea typeface="Arial"/>
                <a:cs typeface="Arial"/>
              </a:rPr>
              <a:t>regional destination expansion</a:t>
            </a:r>
          </a:p>
        </p:txBody>
      </p:sp>
      <p:sp>
        <p:nvSpPr>
          <p:cNvPr id="19" name="text-166-628">
            <a:extLst xmlns:a="http://schemas.openxmlformats.org/drawingml/2006/main">
              <a:ext uri="{FF2B5EF4-FFF2-40B4-BE49-F238E27FC236}">
                <a16:creationId xmlns:a16="http://schemas.microsoft.com/office/drawing/2014/main" id="{ACE4D354-7AB5-42E9-AB72-5E4545012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981700"/>
            <a:ext cx="9029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03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Current code already provides the foundations: modular providers, persistent data, role-based collaboration, and export surfaces.</a:t>
            </a:r>
          </a:p>
        </p:txBody>
      </p:sp>
    </p:spTree>
    <p:extLst>
      <p:ext uri="{BB962C8B-B14F-4D97-AF65-F5344CB8AC3E}">
        <p14:creationId xmlns:p14="http://schemas.microsoft.com/office/powerpoint/2010/main" val="7161361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D4A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54-48">
            <a:extLst xmlns:a="http://schemas.openxmlformats.org/drawingml/2006/main">
              <a:ext uri="{FF2B5EF4-FFF2-40B4-BE49-F238E27FC236}">
                <a16:creationId xmlns:a16="http://schemas.microsoft.com/office/drawing/2014/main" id="{81CB708C-E2D2-48D1-A040-0B36F9584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E1D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8E1D5"/>
                </a:solidFill>
                <a:latin typeface="Arial"/>
                <a:ea typeface="Arial"/>
                <a:cs typeface="Arial"/>
              </a:rPr>
              <a:t>MAGIC TRIP PLANNER</a:t>
            </a:r>
          </a:p>
        </p:txBody>
      </p:sp>
      <p:sp>
        <p:nvSpPr>
          <p:cNvPr id="2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30236E50-7ABB-4911-B1D9-6B7771FBC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99060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Make every Sri Lanka trip easier to plan - and easier to trust.</a:t>
            </a:r>
          </a:p>
        </p:txBody>
      </p:sp>
      <p:sp>
        <p:nvSpPr>
          <p:cNvPr id="3" name="rule-370">
            <a:extLst xmlns:a="http://schemas.openxmlformats.org/drawingml/2006/main">
              <a:ext uri="{FF2B5EF4-FFF2-40B4-BE49-F238E27FC236}">
                <a16:creationId xmlns:a16="http://schemas.microsoft.com/office/drawing/2014/main" id="{D256F2DB-D1ED-4A05-9622-F87DB9763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0"/>
            <a:ext cx="1123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32"/>
          </a:solidFill>
          <a:ln xmlns:a="http://schemas.openxmlformats.org/drawingml/2006/main" w="0">
            <a:solidFill>
              <a:srgbClr val="D96B32"/>
            </a:solidFill>
            <a:prstDash val="solid"/>
          </a:ln>
        </p:spPr>
      </p:sp>
      <p:sp>
        <p:nvSpPr>
          <p:cNvPr id="4" name="rect-56-431">
            <a:extLst xmlns:a="http://schemas.openxmlformats.org/drawingml/2006/main">
              <a:ext uri="{FF2B5EF4-FFF2-40B4-BE49-F238E27FC236}">
                <a16:creationId xmlns:a16="http://schemas.microsoft.com/office/drawing/2014/main" id="{D9F05280-A759-40AD-A5A2-99F331A19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05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B32"/>
          </a:solidFill>
          <a:ln xmlns:a="http://schemas.openxmlformats.org/drawingml/2006/main" w="0">
            <a:solidFill>
              <a:srgbClr val="D96B32"/>
            </a:solidFill>
            <a:prstDash val="solid"/>
          </a:ln>
        </p:spPr>
      </p:sp>
      <p:sp>
        <p:nvSpPr>
          <p:cNvPr id="5" name="text-88-426">
            <a:extLst xmlns:a="http://schemas.openxmlformats.org/drawingml/2006/main">
              <a:ext uri="{FF2B5EF4-FFF2-40B4-BE49-F238E27FC236}">
                <a16:creationId xmlns:a16="http://schemas.microsoft.com/office/drawing/2014/main" id="{52DF77E7-8540-4E91-B213-89D9FA015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5765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CEBE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CEBE4"/>
                </a:solidFill>
                <a:latin typeface="Arial"/>
                <a:ea typeface="Arial"/>
                <a:cs typeface="Arial"/>
              </a:rPr>
              <a:t>Working web application</a:t>
            </a:r>
          </a:p>
        </p:txBody>
      </p:sp>
      <p:sp>
        <p:nvSpPr>
          <p:cNvPr id="6" name="rect-56-489">
            <a:extLst xmlns:a="http://schemas.openxmlformats.org/drawingml/2006/main">
              <a:ext uri="{FF2B5EF4-FFF2-40B4-BE49-F238E27FC236}">
                <a16:creationId xmlns:a16="http://schemas.microsoft.com/office/drawing/2014/main" id="{2294B1E4-7F64-47F6-970C-578868B31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577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B32"/>
          </a:solidFill>
          <a:ln xmlns:a="http://schemas.openxmlformats.org/drawingml/2006/main" w="0">
            <a:solidFill>
              <a:srgbClr val="D96B32"/>
            </a:solidFill>
            <a:prstDash val="solid"/>
          </a:ln>
        </p:spPr>
      </p:sp>
      <p:sp>
        <p:nvSpPr>
          <p:cNvPr id="7" name="text-88-484">
            <a:extLst xmlns:a="http://schemas.openxmlformats.org/drawingml/2006/main">
              <a:ext uri="{FF2B5EF4-FFF2-40B4-BE49-F238E27FC236}">
                <a16:creationId xmlns:a16="http://schemas.microsoft.com/office/drawing/2014/main" id="{690BD65A-8BD4-4D22-9EB0-F2E44CE32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1010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CEBE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CEBE4"/>
                </a:solidFill>
                <a:latin typeface="Arial"/>
                <a:ea typeface="Arial"/>
                <a:cs typeface="Arial"/>
              </a:rPr>
              <a:t>Market-aligned Sri Lanka focus</a:t>
            </a:r>
          </a:p>
        </p:txBody>
      </p:sp>
      <p:sp>
        <p:nvSpPr>
          <p:cNvPr id="8" name="rect-56-547">
            <a:extLst xmlns:a="http://schemas.openxmlformats.org/drawingml/2006/main">
              <a:ext uri="{FF2B5EF4-FFF2-40B4-BE49-F238E27FC236}">
                <a16:creationId xmlns:a16="http://schemas.microsoft.com/office/drawing/2014/main" id="{07142AC7-59B2-4283-886F-9BD1674C2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01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B32"/>
          </a:solidFill>
          <a:ln xmlns:a="http://schemas.openxmlformats.org/drawingml/2006/main" w="0">
            <a:solidFill>
              <a:srgbClr val="D96B32"/>
            </a:solidFill>
            <a:prstDash val="solid"/>
          </a:ln>
        </p:spPr>
      </p:sp>
      <p:sp>
        <p:nvSpPr>
          <p:cNvPr id="9" name="text-88-542">
            <a:extLst xmlns:a="http://schemas.openxmlformats.org/drawingml/2006/main">
              <a:ext uri="{FF2B5EF4-FFF2-40B4-BE49-F238E27FC236}">
                <a16:creationId xmlns:a16="http://schemas.microsoft.com/office/drawing/2014/main" id="{36121797-3515-4557-9ED5-2042A0763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6255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CEBE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CEBE4"/>
                </a:solidFill>
                <a:latin typeface="Arial"/>
                <a:ea typeface="Arial"/>
                <a:cs typeface="Arial"/>
              </a:rPr>
              <a:t>Scalable full-stack foundation</a:t>
            </a:r>
          </a:p>
        </p:txBody>
      </p:sp>
      <p:sp>
        <p:nvSpPr>
          <p:cNvPr id="10" name="rect-730-418">
            <a:extLst xmlns:a="http://schemas.openxmlformats.org/drawingml/2006/main">
              <a:ext uri="{FF2B5EF4-FFF2-40B4-BE49-F238E27FC236}">
                <a16:creationId xmlns:a16="http://schemas.microsoft.com/office/drawing/2014/main" id="{FDD0D295-AB10-441F-B40B-A0ADB8240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981450"/>
            <a:ext cx="4095750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" name="text-760-448">
            <a:extLst xmlns:a="http://schemas.openxmlformats.org/drawingml/2006/main">
              <a:ext uri="{FF2B5EF4-FFF2-40B4-BE49-F238E27FC236}">
                <a16:creationId xmlns:a16="http://schemas.microsoft.com/office/drawing/2014/main" id="{2C4E6599-84AB-4BDC-A5CC-063E743E3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6720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96B3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96B32"/>
                </a:solidFill>
                <a:latin typeface="Arial"/>
                <a:ea typeface="Arial"/>
                <a:cs typeface="Arial"/>
              </a:rPr>
              <a:t>READY FOR THE LIVE DEMO</a:t>
            </a:r>
          </a:p>
        </p:txBody>
      </p:sp>
      <p:sp>
        <p:nvSpPr>
          <p:cNvPr id="12" name="text-760-498">
            <a:extLst xmlns:a="http://schemas.openxmlformats.org/drawingml/2006/main">
              <a:ext uri="{FF2B5EF4-FFF2-40B4-BE49-F238E27FC236}">
                <a16:creationId xmlns:a16="http://schemas.microsoft.com/office/drawing/2014/main" id="{E2C8E8B3-B4C2-4439-9FFD-499763FD2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434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925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43A3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3A31"/>
                </a:solidFill>
                <a:latin typeface="Arial"/>
                <a:ea typeface="Arial"/>
                <a:cs typeface="Arial"/>
              </a:rPr>
              <a:t>Public hosted link submitted separately</a:t>
            </a:r>
          </a:p>
        </p:txBody>
      </p:sp>
      <p:sp>
        <p:nvSpPr>
          <p:cNvPr id="13" name="text-54-660">
            <a:extLst xmlns:a="http://schemas.openxmlformats.org/drawingml/2006/main">
              <a:ext uri="{FF2B5EF4-FFF2-40B4-BE49-F238E27FC236}">
                <a16:creationId xmlns:a16="http://schemas.microsoft.com/office/drawing/2014/main" id="{114A76CA-E5C1-4DB9-B1BA-41BEDA3DD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8E1D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8E1D5"/>
                </a:solidFill>
                <a:latin typeface="Arial"/>
                <a:ea typeface="Arial"/>
                <a:cs typeface="Arial"/>
              </a:rPr>
              <a:t>IDEALIZE 2026  /  SEMI-FINALS</a:t>
            </a:r>
          </a:p>
        </p:txBody>
      </p:sp>
    </p:spTree>
    <p:extLst>
      <p:ext uri="{BB962C8B-B14F-4D97-AF65-F5344CB8AC3E}">
        <p14:creationId xmlns:p14="http://schemas.microsoft.com/office/powerpoint/2010/main" val="21148090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2026-09-01T16:57:26.7160000Z</dcterms:created>
  <dcterms:modified xsi:type="dcterms:W3CDTF">2026-09-01T16:57:26.7180000Z</dcterms:modified>
</coreProperties>
</file>